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91440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E4F7"/>
                </a:solidFill>
              </a:rPr>
              <a:t>TRƯỜNG ĐẠI HỌC CÔNG NGHỆ THÔNG TIN – ĐHQG TP.HCM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C8F0"/>
                </a:solidFill>
              </a:rPr>
              <a:t>CƠ SỞ DỮ LIỆU NÂNG CAO (ADVANCED DATABASE)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HỆ THỐNG QUẢN LÝ VÀ
PHÂN TÍCH DỮ LIỆU HỌC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 err="1">
                <a:solidFill>
                  <a:srgbClr val="A8C8F0"/>
                </a:solidFill>
              </a:rPr>
              <a:t>Ứng</a:t>
            </a:r>
            <a:r>
              <a:rPr sz="1500" b="0" i="1" dirty="0">
                <a:solidFill>
                  <a:srgbClr val="A8C8F0"/>
                </a:solidFill>
              </a:rPr>
              <a:t> </a:t>
            </a:r>
            <a:r>
              <a:rPr sz="1500" b="0" i="1" dirty="0" err="1">
                <a:solidFill>
                  <a:srgbClr val="A8C8F0"/>
                </a:solidFill>
              </a:rPr>
              <a:t>dụng</a:t>
            </a:r>
            <a:r>
              <a:rPr sz="1500" b="0" i="1" dirty="0">
                <a:solidFill>
                  <a:srgbClr val="A8C8F0"/>
                </a:solidFill>
              </a:rPr>
              <a:t> PostgreSQL </a:t>
            </a:r>
            <a:r>
              <a:rPr sz="1500" b="0" i="1" dirty="0" err="1">
                <a:solidFill>
                  <a:srgbClr val="A8C8F0"/>
                </a:solidFill>
              </a:rPr>
              <a:t>nâng</a:t>
            </a:r>
            <a:r>
              <a:rPr sz="1500" b="0" i="1" dirty="0">
                <a:solidFill>
                  <a:srgbClr val="A8C8F0"/>
                </a:solidFill>
              </a:rPr>
              <a:t> </a:t>
            </a:r>
            <a:r>
              <a:rPr sz="1500" b="0" i="1" dirty="0" err="1">
                <a:solidFill>
                  <a:srgbClr val="A8C8F0"/>
                </a:solidFill>
              </a:rPr>
              <a:t>cao</a:t>
            </a:r>
            <a:r>
              <a:rPr sz="1500" b="0" i="1" dirty="0">
                <a:solidFill>
                  <a:srgbClr val="A8C8F0"/>
                </a:solidFill>
              </a:rPr>
              <a:t> – Trung </a:t>
            </a:r>
            <a:r>
              <a:rPr sz="1500" b="0" i="1" dirty="0" err="1">
                <a:solidFill>
                  <a:srgbClr val="A8C8F0"/>
                </a:solidFill>
              </a:rPr>
              <a:t>tâm</a:t>
            </a:r>
            <a:r>
              <a:rPr sz="1500" b="0" i="1" dirty="0">
                <a:solidFill>
                  <a:srgbClr val="A8C8F0"/>
                </a:solidFill>
              </a:rPr>
              <a:t> Tin </a:t>
            </a:r>
            <a:r>
              <a:rPr sz="1500" b="0" i="1" dirty="0" err="1">
                <a:solidFill>
                  <a:srgbClr val="A8C8F0"/>
                </a:solidFill>
              </a:rPr>
              <a:t>học</a:t>
            </a:r>
            <a:r>
              <a:rPr sz="1500" b="0" i="1" dirty="0">
                <a:solidFill>
                  <a:srgbClr val="A8C8F0"/>
                </a:solidFill>
              </a:rPr>
              <a:t> T3H TP.HCM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77639"/>
            <a:ext cx="1828800" cy="4572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Object-Relational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3977639"/>
            <a:ext cx="1828800" cy="45720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Deductive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3977639"/>
            <a:ext cx="1828800" cy="45720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Distributed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37376" y="3977639"/>
            <a:ext cx="18288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NoSQL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3977639"/>
            <a:ext cx="1828800" cy="457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Spatial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0" y="3977639"/>
            <a:ext cx="1828800" cy="45720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42448" y="399592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FTS/Multimedia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Học viên: Nguyễn Trung Tính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Môn học: Cơ sở dữ liệu nâng cao  |  UIT – ĐHQG TP.HCM  |  Tháng 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NỘI DUNG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678669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8016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Tổng quan giới thiệu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9019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D6E4F7"/>
                </a:solidFill>
              </a:rPr>
              <a:t>Bối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cảnh</a:t>
            </a:r>
            <a:r>
              <a:rPr sz="1000" b="0" i="1" dirty="0">
                <a:solidFill>
                  <a:srgbClr val="D6E4F7"/>
                </a:solidFill>
              </a:rPr>
              <a:t> T3H, </a:t>
            </a:r>
            <a:r>
              <a:rPr sz="1000" b="0" i="1" dirty="0" err="1">
                <a:solidFill>
                  <a:srgbClr val="D6E4F7"/>
                </a:solidFill>
              </a:rPr>
              <a:t>mục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tiêu</a:t>
            </a:r>
            <a:r>
              <a:rPr sz="1000" b="0" i="1" dirty="0">
                <a:solidFill>
                  <a:srgbClr val="D6E4F7"/>
                </a:solidFill>
              </a:rPr>
              <a:t>, </a:t>
            </a:r>
            <a:r>
              <a:rPr sz="1000" b="0" i="1" dirty="0" err="1">
                <a:solidFill>
                  <a:srgbClr val="D6E4F7"/>
                </a:solidFill>
              </a:rPr>
              <a:t>công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nghệ</a:t>
            </a:r>
            <a:r>
              <a:rPr sz="1000" b="0" i="1" dirty="0">
                <a:solidFill>
                  <a:srgbClr val="D6E4F7"/>
                </a:solidFill>
              </a:rPr>
              <a:t>, </a:t>
            </a:r>
            <a:r>
              <a:rPr sz="1000" b="0" i="1" dirty="0" err="1">
                <a:solidFill>
                  <a:srgbClr val="D6E4F7"/>
                </a:solidFill>
              </a:rPr>
              <a:t>phạm</a:t>
            </a:r>
            <a:r>
              <a:rPr sz="1000" b="0" i="1" dirty="0">
                <a:solidFill>
                  <a:srgbClr val="D6E4F7"/>
                </a:solidFill>
              </a:rPr>
              <a:t> 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146" y="1188720"/>
            <a:ext cx="2921578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06978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E86D2E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0914" y="1307592"/>
            <a:ext cx="17205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Phân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tích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bài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toán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40132" y="1815084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D6E4F7"/>
                </a:solidFill>
              </a:rPr>
              <a:t>Actors, </a:t>
            </a:r>
            <a:r>
              <a:rPr sz="1000" b="0" i="1" dirty="0" err="1">
                <a:solidFill>
                  <a:srgbClr val="D6E4F7"/>
                </a:solidFill>
              </a:rPr>
              <a:t>yêu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cầu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chức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năng</a:t>
            </a:r>
            <a:r>
              <a:rPr sz="1000" b="0" i="1" dirty="0">
                <a:solidFill>
                  <a:srgbClr val="D6E4F7"/>
                </a:solidFill>
              </a:rPr>
              <a:t>, ERD, </a:t>
            </a:r>
            <a:endParaRPr lang="vi-VN" sz="1000" b="0" i="1" dirty="0">
              <a:solidFill>
                <a:srgbClr val="D6E4F7"/>
              </a:solidFill>
            </a:endParaRPr>
          </a:p>
          <a:p>
            <a:pPr algn="l"/>
            <a:r>
              <a:rPr sz="1000" b="0" i="1" dirty="0" err="1">
                <a:solidFill>
                  <a:srgbClr val="D6E4F7"/>
                </a:solidFill>
              </a:rPr>
              <a:t>luồng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nghiệp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vụ</a:t>
            </a:r>
            <a:endParaRPr sz="1000" b="0" i="1" dirty="0">
              <a:solidFill>
                <a:srgbClr val="D6E4F7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38161" y="1188720"/>
            <a:ext cx="267867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75631" y="12618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6420" y="133271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Thiết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kế</a:t>
            </a:r>
            <a:r>
              <a:rPr sz="1300" b="1" i="0" dirty="0">
                <a:solidFill>
                  <a:srgbClr val="FFFFFF"/>
                </a:solidFill>
              </a:rPr>
              <a:t> &amp; </a:t>
            </a:r>
            <a:r>
              <a:rPr sz="1300" b="1" i="0" dirty="0" err="1">
                <a:solidFill>
                  <a:srgbClr val="FFFFFF"/>
                </a:solidFill>
              </a:rPr>
              <a:t>Xây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dựng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75631" y="1901952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D6E4F7"/>
                </a:solidFill>
              </a:rPr>
              <a:t>Schema, Triggers, Procedures,</a:t>
            </a:r>
            <a:br>
              <a:rPr lang="vi-VN" sz="1000" b="0" i="1" dirty="0">
                <a:solidFill>
                  <a:srgbClr val="D6E4F7"/>
                </a:solidFill>
              </a:rPr>
            </a:br>
            <a:r>
              <a:rPr sz="1000" b="0" i="1" dirty="0">
                <a:solidFill>
                  <a:srgbClr val="D6E4F7"/>
                </a:solidFill>
              </a:rPr>
              <a:t> 6 </a:t>
            </a:r>
            <a:r>
              <a:rPr sz="1000" b="0" i="1" dirty="0" err="1">
                <a:solidFill>
                  <a:srgbClr val="D6E4F7"/>
                </a:solidFill>
              </a:rPr>
              <a:t>mô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hình</a:t>
            </a:r>
            <a:r>
              <a:rPr sz="1000" b="0" i="1" dirty="0">
                <a:solidFill>
                  <a:srgbClr val="D6E4F7"/>
                </a:solidFill>
              </a:rPr>
              <a:t> CSDL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17067" y="1207007"/>
            <a:ext cx="278892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27616" y="1285835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E86D2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6568" y="130412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Phân tích dữ liệu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1948" y="1924389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D6E4F7"/>
                </a:solidFill>
              </a:rPr>
              <a:t>17 analytics queries, SQL </a:t>
            </a:r>
            <a:r>
              <a:rPr sz="1000" b="0" i="1" dirty="0" err="1">
                <a:solidFill>
                  <a:srgbClr val="D6E4F7"/>
                </a:solidFill>
              </a:rPr>
              <a:t>nâng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cao</a:t>
            </a:r>
            <a:r>
              <a:rPr sz="1000" b="0" i="1" dirty="0">
                <a:solidFill>
                  <a:srgbClr val="D6E4F7"/>
                </a:solidFill>
              </a:rPr>
              <a:t>,</a:t>
            </a:r>
            <a:endParaRPr lang="vi-VN" sz="1000" b="0" i="1" dirty="0">
              <a:solidFill>
                <a:srgbClr val="D6E4F7"/>
              </a:solidFill>
            </a:endParaRPr>
          </a:p>
          <a:p>
            <a:pPr algn="l"/>
            <a:r>
              <a:rPr sz="1000" b="0" i="1" dirty="0">
                <a:solidFill>
                  <a:srgbClr val="D6E4F7"/>
                </a:solidFill>
              </a:rPr>
              <a:t> Dropout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836" y="37033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2564" y="3776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516" y="37947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Xây dựng ứng dụng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564" y="44165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Flask CRUD, Dashboard, Analytics, Docker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0475" y="370332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10203" y="37764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9155" y="379475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Thực nghiệm &amp; Đánh giá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0203" y="441655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Benchmark, EXPLAIN ANALYZE, test triggers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6430" y="3726180"/>
            <a:ext cx="3794760" cy="2331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6158" y="379933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6D2E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110" y="3817619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Kết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luận</a:t>
            </a:r>
            <a:r>
              <a:rPr sz="1300" b="1" i="0" dirty="0">
                <a:solidFill>
                  <a:srgbClr val="FFFFFF"/>
                </a:solidFill>
              </a:rPr>
              <a:t> &amp; </a:t>
            </a:r>
            <a:r>
              <a:rPr sz="1300" b="1" i="0" dirty="0" err="1">
                <a:solidFill>
                  <a:srgbClr val="FFFFFF"/>
                </a:solidFill>
              </a:rPr>
              <a:t>Phát</a:t>
            </a:r>
            <a:r>
              <a:rPr sz="1300" b="1" i="0" dirty="0">
                <a:solidFill>
                  <a:srgbClr val="FFFFFF"/>
                </a:solidFill>
              </a:rPr>
              <a:t> </a:t>
            </a:r>
            <a:r>
              <a:rPr sz="1300" b="1" i="0" dirty="0" err="1">
                <a:solidFill>
                  <a:srgbClr val="FFFFFF"/>
                </a:solidFill>
              </a:rPr>
              <a:t>triển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6158" y="4439412"/>
            <a:ext cx="3566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D6E4F7"/>
                </a:solidFill>
              </a:rPr>
              <a:t>Tóm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kết</a:t>
            </a:r>
            <a:r>
              <a:rPr sz="1000" b="0" i="1" dirty="0">
                <a:solidFill>
                  <a:srgbClr val="D6E4F7"/>
                </a:solidFill>
              </a:rPr>
              <a:t> 6 </a:t>
            </a:r>
            <a:r>
              <a:rPr sz="1000" b="0" i="1" dirty="0" err="1">
                <a:solidFill>
                  <a:srgbClr val="D6E4F7"/>
                </a:solidFill>
              </a:rPr>
              <a:t>mô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hình</a:t>
            </a:r>
            <a:r>
              <a:rPr sz="1000" b="0" i="1" dirty="0">
                <a:solidFill>
                  <a:srgbClr val="D6E4F7"/>
                </a:solidFill>
              </a:rPr>
              <a:t>, </a:t>
            </a:r>
            <a:r>
              <a:rPr sz="1000" b="0" i="1" dirty="0" err="1">
                <a:solidFill>
                  <a:srgbClr val="D6E4F7"/>
                </a:solidFill>
              </a:rPr>
              <a:t>bài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học</a:t>
            </a:r>
            <a:r>
              <a:rPr sz="1000" b="0" i="1" dirty="0">
                <a:solidFill>
                  <a:srgbClr val="D6E4F7"/>
                </a:solidFill>
              </a:rPr>
              <a:t>, </a:t>
            </a:r>
            <a:r>
              <a:rPr sz="1000" b="0" i="1" dirty="0" err="1">
                <a:solidFill>
                  <a:srgbClr val="D6E4F7"/>
                </a:solidFill>
              </a:rPr>
              <a:t>lộ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trình</a:t>
            </a:r>
            <a:r>
              <a:rPr sz="1000" b="0" i="1" dirty="0">
                <a:solidFill>
                  <a:srgbClr val="D6E4F7"/>
                </a:solidFill>
              </a:rPr>
              <a:t> ML/API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TỔNG QUAN DỰ 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Hệ thống Quản lý và Phân tích Dữ liệu Học tập – Trung tâm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23560" cy="2240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CSDL &amp;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PostgreSQL 16 + PostGIS 3.4
Python 3.11 + Flask
Bootstrap 5 + Chart.js
Docker Compose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23560" cy="2240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435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Quy mô dữ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300 học viên
16 khóa học T3H
20 giảng viên, 80 lớp
32.000+ bản ghi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5623560" cy="2240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Kiến trúc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Main DB + Archive Node
11 bảng (3NF) + 6 modules
4 triggers + 3 procedures
2 Materialized 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611880"/>
            <a:ext cx="5623560" cy="2240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611880"/>
            <a:ext cx="562356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666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Tính năng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CC"/>
                </a:solidFill>
              </a:rPr>
              <a:t>Flask Web: CRUD + 17 Analytics
Dropout Risk Prediction
FDW 2 nodes thật
Docker 1-click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3-Tier Architecture + Distributed Database (2 Nodes)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430000" cy="10058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52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TRÌNH BÀY (Presentation)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Browser  ──►  Flask Web App  ──►  Bootstrap 5 / Chart.js / DataTables
                                                    http://localhost:5000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31720"/>
            <a:ext cx="11430000" cy="10058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395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NGHIỆP VỤ (Business Logic)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07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Flask Routes  │  REST Endpoints  │  17 Analytics Queries
Triggers  │  Stored Procedures  │  Views  │  Materialized 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11430000" cy="10058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3538727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MAIN NODE (t3h_postgres:5432)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950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11 bảng 3NF  │  Schema V2  │  PostGIS  │  6 Demo modules
Full-Text Search  │  JSONB  │  Partitioning  │  Audit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11430000" cy="10058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681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TẦNG DỮ LIỆU – ARCHIVE NODE (t3h_archive:5433)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932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6E4F7"/>
                </a:solidFill>
              </a:rPr>
              <a:t>enrollments_2022  │  course_stats_2022  │  PostgreSQL 16
FDW (postgres_fdw) ◄────────── transparent distributed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498848"/>
            <a:ext cx="457200" cy="1371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44805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D2E"/>
                </a:solidFill>
              </a:rPr>
              <a:t>FDW 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SƠ ĐỒ QUAN HỆ THỰC THỂ (ERD)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E4F7"/>
                </a:solidFill>
              </a:rPr>
              <a:t>11 bảng – chuẩn 3NF – PostgreSQL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286000" cy="34747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" name="TextBox 7"/>
          <p:cNvSpPr txBox="1"/>
          <p:nvPr/>
        </p:nvSpPr>
        <p:spPr>
          <a:xfrm>
            <a:off x="256032" y="117957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" name="TextBox 9"/>
          <p:cNvSpPr txBox="1"/>
          <p:nvPr/>
        </p:nvSpPr>
        <p:spPr>
          <a:xfrm>
            <a:off x="256032" y="149047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student_id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" name="TextBox 13"/>
          <p:cNvSpPr txBox="1"/>
          <p:nvPr/>
        </p:nvSpPr>
        <p:spPr>
          <a:xfrm>
            <a:off x="274320" y="201168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274320" y="226771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phone, date_of_birth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" name="TextBox 17"/>
          <p:cNvSpPr txBox="1"/>
          <p:nvPr/>
        </p:nvSpPr>
        <p:spPr>
          <a:xfrm>
            <a:off x="274320" y="252374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gender, address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274320" y="2779776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enrolled_date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2" name="TextBox 21"/>
          <p:cNvSpPr txBox="1"/>
          <p:nvPr/>
        </p:nvSpPr>
        <p:spPr>
          <a:xfrm>
            <a:off x="274320" y="303580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1143000"/>
            <a:ext cx="2286000" cy="1920240"/>
          </a:xfrm>
          <a:prstGeom prst="rect">
            <a:avLst/>
          </a:prstGeom>
          <a:noFill/>
          <a:ln w="19050">
            <a:solidFill>
              <a:srgbClr val="1A3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Rectangle 23"/>
          <p:cNvSpPr/>
          <p:nvPr/>
        </p:nvSpPr>
        <p:spPr>
          <a:xfrm>
            <a:off x="2834640" y="1143000"/>
            <a:ext cx="2286000" cy="34747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TextBox 24"/>
          <p:cNvSpPr txBox="1"/>
          <p:nvPr/>
        </p:nvSpPr>
        <p:spPr>
          <a:xfrm>
            <a:off x="2907792" y="117957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courses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7" name="TextBox 26"/>
          <p:cNvSpPr txBox="1"/>
          <p:nvPr/>
        </p:nvSpPr>
        <p:spPr>
          <a:xfrm>
            <a:off x="2907792" y="149047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course_id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9" name="TextBox 28"/>
          <p:cNvSpPr txBox="1"/>
          <p:nvPr/>
        </p:nvSpPr>
        <p:spPr>
          <a:xfrm>
            <a:off x="2926080" y="175564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course_code (UNIQUE)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1" name="TextBox 30"/>
          <p:cNvSpPr txBox="1"/>
          <p:nvPr/>
        </p:nvSpPr>
        <p:spPr>
          <a:xfrm>
            <a:off x="2926080" y="201168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course_name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2926080" y="226771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category, level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5" name="TextBox 34"/>
          <p:cNvSpPr txBox="1"/>
          <p:nvPr/>
        </p:nvSpPr>
        <p:spPr>
          <a:xfrm>
            <a:off x="2926080" y="252374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duration_hours, credits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7" name="TextBox 36"/>
          <p:cNvSpPr txBox="1"/>
          <p:nvPr/>
        </p:nvSpPr>
        <p:spPr>
          <a:xfrm>
            <a:off x="2926080" y="2779776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tuition_fee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9" name="TextBox 38"/>
          <p:cNvSpPr txBox="1"/>
          <p:nvPr/>
        </p:nvSpPr>
        <p:spPr>
          <a:xfrm>
            <a:off x="2926080" y="303580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1143000"/>
            <a:ext cx="2286000" cy="1920240"/>
          </a:xfrm>
          <a:prstGeom prst="rect">
            <a:avLst/>
          </a:prstGeom>
          <a:noFill/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1" name="Rectangle 40"/>
          <p:cNvSpPr/>
          <p:nvPr/>
        </p:nvSpPr>
        <p:spPr>
          <a:xfrm>
            <a:off x="5486400" y="1143000"/>
            <a:ext cx="2286000" cy="34747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2" name="TextBox 41"/>
          <p:cNvSpPr txBox="1"/>
          <p:nvPr/>
        </p:nvSpPr>
        <p:spPr>
          <a:xfrm>
            <a:off x="5559552" y="117957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instructors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149047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4" name="TextBox 43"/>
          <p:cNvSpPr txBox="1"/>
          <p:nvPr/>
        </p:nvSpPr>
        <p:spPr>
          <a:xfrm>
            <a:off x="5559552" y="149047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instructor_id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174650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6" name="TextBox 45"/>
          <p:cNvSpPr txBox="1"/>
          <p:nvPr/>
        </p:nvSpPr>
        <p:spPr>
          <a:xfrm>
            <a:off x="5577840" y="175564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first_name, last_name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00253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8" name="TextBox 47"/>
          <p:cNvSpPr txBox="1"/>
          <p:nvPr/>
        </p:nvSpPr>
        <p:spPr>
          <a:xfrm>
            <a:off x="5577840" y="201168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email (UNIQUE)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225856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0" name="TextBox 49"/>
          <p:cNvSpPr txBox="1"/>
          <p:nvPr/>
        </p:nvSpPr>
        <p:spPr>
          <a:xfrm>
            <a:off x="5577840" y="226771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specialization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0" y="251460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2" name="TextBox 51"/>
          <p:cNvSpPr txBox="1"/>
          <p:nvPr/>
        </p:nvSpPr>
        <p:spPr>
          <a:xfrm>
            <a:off x="5577840" y="252374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hire_date, qualification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0" y="277063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4" name="TextBox 53"/>
          <p:cNvSpPr txBox="1"/>
          <p:nvPr/>
        </p:nvSpPr>
        <p:spPr>
          <a:xfrm>
            <a:off x="5577840" y="2779776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experience_years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02666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6" name="TextBox 55"/>
          <p:cNvSpPr txBox="1"/>
          <p:nvPr/>
        </p:nvSpPr>
        <p:spPr>
          <a:xfrm>
            <a:off x="5577840" y="303580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1142999"/>
            <a:ext cx="2286000" cy="2148173"/>
          </a:xfrm>
          <a:prstGeom prst="rect">
            <a:avLst/>
          </a:prstGeom>
          <a:noFill/>
          <a:ln w="19050">
            <a:solidFill>
              <a:srgbClr val="158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8" name="Rectangle 57"/>
          <p:cNvSpPr/>
          <p:nvPr/>
        </p:nvSpPr>
        <p:spPr>
          <a:xfrm>
            <a:off x="2834640" y="3291840"/>
            <a:ext cx="2286000" cy="34747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9" name="TextBox 58"/>
          <p:cNvSpPr txBox="1"/>
          <p:nvPr/>
        </p:nvSpPr>
        <p:spPr>
          <a:xfrm>
            <a:off x="2907792" y="332841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1" name="TextBox 60"/>
          <p:cNvSpPr txBox="1"/>
          <p:nvPr/>
        </p:nvSpPr>
        <p:spPr>
          <a:xfrm>
            <a:off x="2907792" y="363931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class_id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3" name="TextBox 62"/>
          <p:cNvSpPr txBox="1"/>
          <p:nvPr/>
        </p:nvSpPr>
        <p:spPr>
          <a:xfrm>
            <a:off x="2926080" y="390448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class_code (UNIQUE)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5" name="TextBox 64"/>
          <p:cNvSpPr txBox="1"/>
          <p:nvPr/>
        </p:nvSpPr>
        <p:spPr>
          <a:xfrm>
            <a:off x="2926080" y="416052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course_id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7" name="TextBox 66"/>
          <p:cNvSpPr txBox="1"/>
          <p:nvPr/>
        </p:nvSpPr>
        <p:spPr>
          <a:xfrm>
            <a:off x="2926080" y="441655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instructor_id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9" name="TextBox 68"/>
          <p:cNvSpPr txBox="1"/>
          <p:nvPr/>
        </p:nvSpPr>
        <p:spPr>
          <a:xfrm>
            <a:off x="2926080" y="467258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semester, academic_year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3" name="TextBox 72"/>
          <p:cNvSpPr txBox="1"/>
          <p:nvPr/>
        </p:nvSpPr>
        <p:spPr>
          <a:xfrm>
            <a:off x="2926080" y="518464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start_date, end_date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834640" y="3291840"/>
            <a:ext cx="2286000" cy="1711084"/>
          </a:xfrm>
          <a:prstGeom prst="rect">
            <a:avLst/>
          </a:prstGeom>
          <a:noFill/>
          <a:ln w="19050">
            <a:solidFill>
              <a:srgbClr val="7B3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5" name="Rectangle 74"/>
          <p:cNvSpPr/>
          <p:nvPr/>
        </p:nvSpPr>
        <p:spPr>
          <a:xfrm>
            <a:off x="182880" y="3291840"/>
            <a:ext cx="2286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6" name="TextBox 75"/>
          <p:cNvSpPr txBox="1"/>
          <p:nvPr/>
        </p:nvSpPr>
        <p:spPr>
          <a:xfrm>
            <a:off x="256032" y="3150441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enrollments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363931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8" name="TextBox 77"/>
          <p:cNvSpPr txBox="1"/>
          <p:nvPr/>
        </p:nvSpPr>
        <p:spPr>
          <a:xfrm>
            <a:off x="256032" y="363931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enrollment_id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" y="389534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0" name="TextBox 79"/>
          <p:cNvSpPr txBox="1"/>
          <p:nvPr/>
        </p:nvSpPr>
        <p:spPr>
          <a:xfrm>
            <a:off x="274320" y="390448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student_id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15137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2" name="TextBox 81"/>
          <p:cNvSpPr txBox="1"/>
          <p:nvPr/>
        </p:nvSpPr>
        <p:spPr>
          <a:xfrm>
            <a:off x="274320" y="416052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class_id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440740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4" name="TextBox 83"/>
          <p:cNvSpPr txBox="1"/>
          <p:nvPr/>
        </p:nvSpPr>
        <p:spPr>
          <a:xfrm>
            <a:off x="274320" y="441655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enrollment_date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" y="466344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6" name="TextBox 85"/>
          <p:cNvSpPr txBox="1"/>
          <p:nvPr/>
        </p:nvSpPr>
        <p:spPr>
          <a:xfrm>
            <a:off x="274320" y="467258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 (CHECK)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82880" y="4919472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8" name="TextBox 87"/>
          <p:cNvSpPr txBox="1"/>
          <p:nvPr/>
        </p:nvSpPr>
        <p:spPr>
          <a:xfrm>
            <a:off x="274320" y="4928616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completion_date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2880" y="5175504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" name="TextBox 89"/>
          <p:cNvSpPr txBox="1"/>
          <p:nvPr/>
        </p:nvSpPr>
        <p:spPr>
          <a:xfrm>
            <a:off x="274320" y="518464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UNIQUE(student,class)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" y="3291840"/>
            <a:ext cx="2286000" cy="1920240"/>
          </a:xfrm>
          <a:prstGeom prst="rect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2" name="Rectangle 91"/>
          <p:cNvSpPr/>
          <p:nvPr/>
        </p:nvSpPr>
        <p:spPr>
          <a:xfrm>
            <a:off x="182880" y="5074920"/>
            <a:ext cx="2286000" cy="347472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3" name="TextBox 92"/>
          <p:cNvSpPr txBox="1"/>
          <p:nvPr/>
        </p:nvSpPr>
        <p:spPr>
          <a:xfrm>
            <a:off x="256032" y="511149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8288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5" name="TextBox 94"/>
          <p:cNvSpPr txBox="1"/>
          <p:nvPr/>
        </p:nvSpPr>
        <p:spPr>
          <a:xfrm>
            <a:off x="256032" y="542239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attendance_id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7" name="TextBox 96"/>
          <p:cNvSpPr txBox="1"/>
          <p:nvPr/>
        </p:nvSpPr>
        <p:spPr>
          <a:xfrm>
            <a:off x="274320" y="568756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9" name="TextBox 98"/>
          <p:cNvSpPr txBox="1"/>
          <p:nvPr/>
        </p:nvSpPr>
        <p:spPr>
          <a:xfrm>
            <a:off x="274320" y="594360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session_date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288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1" name="TextBox 100"/>
          <p:cNvSpPr txBox="1"/>
          <p:nvPr/>
        </p:nvSpPr>
        <p:spPr>
          <a:xfrm>
            <a:off x="274320" y="6199631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 (Present/Absent/Late)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82880" y="5074920"/>
            <a:ext cx="2286000" cy="1664208"/>
          </a:xfrm>
          <a:prstGeom prst="rect">
            <a:avLst/>
          </a:prstGeom>
          <a:noFill/>
          <a:ln w="19050">
            <a:solidFill>
              <a:srgbClr val="C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7" name="Rectangle 106"/>
          <p:cNvSpPr/>
          <p:nvPr/>
        </p:nvSpPr>
        <p:spPr>
          <a:xfrm>
            <a:off x="2834640" y="5074920"/>
            <a:ext cx="2286000" cy="347472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8" name="TextBox 107"/>
          <p:cNvSpPr txBox="1"/>
          <p:nvPr/>
        </p:nvSpPr>
        <p:spPr>
          <a:xfrm>
            <a:off x="2907792" y="5111496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grades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34640" y="5422392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0" name="TextBox 109"/>
          <p:cNvSpPr txBox="1"/>
          <p:nvPr/>
        </p:nvSpPr>
        <p:spPr>
          <a:xfrm>
            <a:off x="2907792" y="5422392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grade_id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34640" y="5678424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2" name="TextBox 111"/>
          <p:cNvSpPr txBox="1"/>
          <p:nvPr/>
        </p:nvSpPr>
        <p:spPr>
          <a:xfrm>
            <a:off x="2926080" y="5687568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34640" y="5934456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4" name="TextBox 113"/>
          <p:cNvSpPr txBox="1"/>
          <p:nvPr/>
        </p:nvSpPr>
        <p:spPr>
          <a:xfrm>
            <a:off x="2926080" y="5943600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assessment_type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34640" y="6190488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6" name="TextBox 115"/>
          <p:cNvSpPr txBox="1"/>
          <p:nvPr/>
        </p:nvSpPr>
        <p:spPr>
          <a:xfrm>
            <a:off x="2926080" y="6199631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22222"/>
                </a:solidFill>
              </a:rPr>
              <a:t>score (0–100)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4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8" name="TextBox 117"/>
          <p:cNvSpPr txBox="1"/>
          <p:nvPr/>
        </p:nvSpPr>
        <p:spPr>
          <a:xfrm>
            <a:off x="2926080" y="6455664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weight (0–1)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34640" y="5074920"/>
            <a:ext cx="2286000" cy="1420473"/>
          </a:xfrm>
          <a:prstGeom prst="rect">
            <a:avLst/>
          </a:prstGeom>
          <a:noFill/>
          <a:ln w="19050">
            <a:solidFill>
              <a:srgbClr val="1A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4" name="Rectangle 123"/>
          <p:cNvSpPr/>
          <p:nvPr/>
        </p:nvSpPr>
        <p:spPr>
          <a:xfrm>
            <a:off x="7955279" y="114300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5" name="TextBox 124"/>
          <p:cNvSpPr txBox="1"/>
          <p:nvPr/>
        </p:nvSpPr>
        <p:spPr>
          <a:xfrm>
            <a:off x="8028431" y="117957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955279" y="149047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7" name="TextBox 126"/>
          <p:cNvSpPr txBox="1"/>
          <p:nvPr/>
        </p:nvSpPr>
        <p:spPr>
          <a:xfrm>
            <a:off x="8028431" y="1490472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payment_id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79" y="174650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9" name="TextBox 128"/>
          <p:cNvSpPr txBox="1"/>
          <p:nvPr/>
        </p:nvSpPr>
        <p:spPr>
          <a:xfrm>
            <a:off x="8046719" y="1755648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enrollment_id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955279" y="200253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1" name="TextBox 130"/>
          <p:cNvSpPr txBox="1"/>
          <p:nvPr/>
        </p:nvSpPr>
        <p:spPr>
          <a:xfrm>
            <a:off x="8046719" y="2011680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amount, payment_method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79" y="225856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3" name="TextBox 132"/>
          <p:cNvSpPr txBox="1"/>
          <p:nvPr/>
        </p:nvSpPr>
        <p:spPr>
          <a:xfrm>
            <a:off x="8046719" y="2267712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status, discount_pct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955279" y="251460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5" name="TextBox 134"/>
          <p:cNvSpPr txBox="1"/>
          <p:nvPr/>
        </p:nvSpPr>
        <p:spPr>
          <a:xfrm>
            <a:off x="8046719" y="2523744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receipt_no (UNIQUE)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955279" y="1143000"/>
            <a:ext cx="2011680" cy="1618488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7" name="Rectangle 136"/>
          <p:cNvSpPr/>
          <p:nvPr/>
        </p:nvSpPr>
        <p:spPr>
          <a:xfrm>
            <a:off x="7955279" y="283464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38" name="TextBox 137"/>
          <p:cNvSpPr txBox="1"/>
          <p:nvPr/>
        </p:nvSpPr>
        <p:spPr>
          <a:xfrm>
            <a:off x="8028431" y="2871216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955279" y="318211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0" name="TextBox 139"/>
          <p:cNvSpPr txBox="1"/>
          <p:nvPr/>
        </p:nvSpPr>
        <p:spPr>
          <a:xfrm>
            <a:off x="8028431" y="3182112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04000"/>
                </a:solidFill>
              </a:rPr>
              <a:t>🔑 </a:t>
            </a:r>
            <a:r>
              <a:rPr sz="1000" b="1" i="0" dirty="0" err="1">
                <a:solidFill>
                  <a:srgbClr val="804000"/>
                </a:solidFill>
              </a:rPr>
              <a:t>feedback_id</a:t>
            </a:r>
            <a:endParaRPr sz="1000" b="1" i="0" dirty="0">
              <a:solidFill>
                <a:srgbClr val="804000"/>
              </a:solidFill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955279" y="3438144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2" name="TextBox 141"/>
          <p:cNvSpPr txBox="1"/>
          <p:nvPr/>
        </p:nvSpPr>
        <p:spPr>
          <a:xfrm>
            <a:off x="8046719" y="3447288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55279" y="3694176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4" name="TextBox 143"/>
          <p:cNvSpPr txBox="1"/>
          <p:nvPr/>
        </p:nvSpPr>
        <p:spPr>
          <a:xfrm>
            <a:off x="8046719" y="3703320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rating_course 1–5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955279" y="3950208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6" name="TextBox 145"/>
          <p:cNvSpPr txBox="1"/>
          <p:nvPr/>
        </p:nvSpPr>
        <p:spPr>
          <a:xfrm>
            <a:off x="8046719" y="3959352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22"/>
                </a:solidFill>
              </a:rPr>
              <a:t>rating_instructor</a:t>
            </a:r>
            <a:r>
              <a:rPr sz="1000" b="0" i="0" dirty="0">
                <a:solidFill>
                  <a:srgbClr val="222222"/>
                </a:solidFill>
              </a:rPr>
              <a:t> 1–5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955279" y="4206240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48" name="TextBox 147"/>
          <p:cNvSpPr txBox="1"/>
          <p:nvPr/>
        </p:nvSpPr>
        <p:spPr>
          <a:xfrm>
            <a:off x="8046719" y="4215384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22"/>
                </a:solidFill>
              </a:rPr>
              <a:t>is_anonymous</a:t>
            </a:r>
            <a:endParaRPr sz="1000" b="0" i="0" dirty="0">
              <a:solidFill>
                <a:srgbClr val="222222"/>
              </a:solidFill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955279" y="2834640"/>
            <a:ext cx="2011680" cy="1684808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0" name="Rectangle 149"/>
          <p:cNvSpPr/>
          <p:nvPr/>
        </p:nvSpPr>
        <p:spPr>
          <a:xfrm>
            <a:off x="7955280" y="4709160"/>
            <a:ext cx="2011680" cy="347472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1" name="TextBox 150"/>
          <p:cNvSpPr txBox="1"/>
          <p:nvPr/>
        </p:nvSpPr>
        <p:spPr>
          <a:xfrm>
            <a:off x="8028432" y="4756703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</a:rPr>
              <a:t>certificates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80" y="5056632"/>
            <a:ext cx="201168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3" name="TextBox 152"/>
          <p:cNvSpPr txBox="1"/>
          <p:nvPr/>
        </p:nvSpPr>
        <p:spPr>
          <a:xfrm>
            <a:off x="8028432" y="5067599"/>
            <a:ext cx="1920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04000"/>
                </a:solidFill>
              </a:rPr>
              <a:t>🔑 cert_id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970228" y="5332985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5" name="TextBox 154"/>
          <p:cNvSpPr txBox="1"/>
          <p:nvPr/>
        </p:nvSpPr>
        <p:spPr>
          <a:xfrm>
            <a:off x="8046720" y="5332775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enrollment_id (UNIQUE)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955280" y="5579663"/>
            <a:ext cx="201168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7" name="TextBox 156"/>
          <p:cNvSpPr txBox="1"/>
          <p:nvPr/>
        </p:nvSpPr>
        <p:spPr>
          <a:xfrm>
            <a:off x="8046720" y="5588807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cert_number (UNIQUE)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955280" y="5835695"/>
            <a:ext cx="201168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9" name="TextBox 158"/>
          <p:cNvSpPr txBox="1"/>
          <p:nvPr/>
        </p:nvSpPr>
        <p:spPr>
          <a:xfrm>
            <a:off x="8046720" y="5844838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grade_letter A+→F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046720" y="6100871"/>
            <a:ext cx="19019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final_score, expires_at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955280" y="4786884"/>
            <a:ext cx="2011680" cy="1665154"/>
          </a:xfrm>
          <a:prstGeom prst="rect">
            <a:avLst/>
          </a:prstGeom>
          <a:noFill/>
          <a:ln w="19050">
            <a:solidFill>
              <a:srgbClr val="122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3" name="Rectangle 162"/>
          <p:cNvSpPr/>
          <p:nvPr/>
        </p:nvSpPr>
        <p:spPr>
          <a:xfrm>
            <a:off x="5468112" y="3749041"/>
            <a:ext cx="228600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4" name="TextBox 163"/>
          <p:cNvSpPr txBox="1"/>
          <p:nvPr/>
        </p:nvSpPr>
        <p:spPr>
          <a:xfrm>
            <a:off x="5486400" y="3781377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 err="1">
                <a:solidFill>
                  <a:srgbClr val="FFFFFF"/>
                </a:solidFill>
              </a:rPr>
              <a:t>audit_log</a:t>
            </a:r>
            <a:endParaRPr sz="1000" b="1" i="0" dirty="0">
              <a:solidFill>
                <a:srgbClr val="FFFFFF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5468112" y="4096513"/>
            <a:ext cx="2286000" cy="256032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6" name="TextBox 165"/>
          <p:cNvSpPr txBox="1"/>
          <p:nvPr/>
        </p:nvSpPr>
        <p:spPr>
          <a:xfrm>
            <a:off x="5486400" y="4092273"/>
            <a:ext cx="2194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804000"/>
                </a:solidFill>
              </a:rPr>
              <a:t>🔑 </a:t>
            </a:r>
            <a:r>
              <a:rPr sz="1000" b="1" i="0" dirty="0" err="1">
                <a:solidFill>
                  <a:srgbClr val="804000"/>
                </a:solidFill>
              </a:rPr>
              <a:t>log_id</a:t>
            </a:r>
            <a:endParaRPr sz="1000" b="1" i="0" dirty="0">
              <a:solidFill>
                <a:srgbClr val="804000"/>
              </a:solidFill>
            </a:endParaRPr>
          </a:p>
        </p:txBody>
      </p:sp>
      <p:sp>
        <p:nvSpPr>
          <p:cNvPr id="167" name="Rectangle 166"/>
          <p:cNvSpPr/>
          <p:nvPr/>
        </p:nvSpPr>
        <p:spPr>
          <a:xfrm>
            <a:off x="5469397" y="4334117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8" name="TextBox 167"/>
          <p:cNvSpPr txBox="1"/>
          <p:nvPr/>
        </p:nvSpPr>
        <p:spPr>
          <a:xfrm>
            <a:off x="5513913" y="4386387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22"/>
                </a:solidFill>
              </a:rPr>
              <a:t>table_name</a:t>
            </a:r>
            <a:r>
              <a:rPr sz="1000" b="0" i="0" dirty="0">
                <a:solidFill>
                  <a:srgbClr val="222222"/>
                </a:solidFill>
              </a:rPr>
              <a:t>, operation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468112" y="4608577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0" name="TextBox 169"/>
          <p:cNvSpPr txBox="1"/>
          <p:nvPr/>
        </p:nvSpPr>
        <p:spPr>
          <a:xfrm>
            <a:off x="5504688" y="4613481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record_id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468112" y="4864609"/>
            <a:ext cx="2286000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2" name="TextBox 171"/>
          <p:cNvSpPr txBox="1"/>
          <p:nvPr/>
        </p:nvSpPr>
        <p:spPr>
          <a:xfrm>
            <a:off x="5504688" y="4869512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22"/>
                </a:solidFill>
              </a:rPr>
              <a:t>old_data</a:t>
            </a:r>
            <a:r>
              <a:rPr sz="1000" b="0" i="0" dirty="0">
                <a:solidFill>
                  <a:srgbClr val="222222"/>
                </a:solidFill>
              </a:rPr>
              <a:t> JSONB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486400" y="6446520"/>
            <a:ext cx="2286000" cy="2468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4" name="TextBox 173"/>
          <p:cNvSpPr txBox="1"/>
          <p:nvPr/>
        </p:nvSpPr>
        <p:spPr>
          <a:xfrm>
            <a:off x="5497777" y="5111357"/>
            <a:ext cx="21762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22"/>
                </a:solidFill>
              </a:rPr>
              <a:t>changed_by</a:t>
            </a:r>
            <a:r>
              <a:rPr sz="1000" b="0" i="0" dirty="0">
                <a:solidFill>
                  <a:srgbClr val="222222"/>
                </a:solidFill>
              </a:rPr>
              <a:t>, </a:t>
            </a:r>
            <a:r>
              <a:rPr sz="1000" b="0" i="0" dirty="0" err="1">
                <a:solidFill>
                  <a:srgbClr val="222222"/>
                </a:solidFill>
              </a:rPr>
              <a:t>changed_at</a:t>
            </a:r>
            <a:endParaRPr sz="1000" b="0" i="0" dirty="0">
              <a:solidFill>
                <a:srgbClr val="222222"/>
              </a:solidFill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5485532" y="3794759"/>
            <a:ext cx="2268579" cy="1636110"/>
          </a:xfrm>
          <a:prstGeom prst="rect">
            <a:avLst/>
          </a:prstGeom>
          <a:noFill/>
          <a:ln w="190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6" name="Rectangle 175"/>
          <p:cNvSpPr/>
          <p:nvPr/>
        </p:nvSpPr>
        <p:spPr>
          <a:xfrm>
            <a:off x="2487168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7" name="TextBox 176"/>
          <p:cNvSpPr txBox="1"/>
          <p:nvPr/>
        </p:nvSpPr>
        <p:spPr>
          <a:xfrm>
            <a:off x="2505456" y="2130551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120640" y="2103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9" name="TextBox 178"/>
          <p:cNvSpPr txBox="1"/>
          <p:nvPr/>
        </p:nvSpPr>
        <p:spPr>
          <a:xfrm>
            <a:off x="5138927" y="2130551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977639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1" name="TextBox 180"/>
          <p:cNvSpPr txBox="1"/>
          <p:nvPr/>
        </p:nvSpPr>
        <p:spPr>
          <a:xfrm>
            <a:off x="3995927" y="3273551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234440" y="324612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3" name="TextBox 182"/>
          <p:cNvSpPr txBox="1"/>
          <p:nvPr/>
        </p:nvSpPr>
        <p:spPr>
          <a:xfrm>
            <a:off x="1252728" y="3273551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234440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5" name="TextBox 184"/>
          <p:cNvSpPr txBox="1"/>
          <p:nvPr/>
        </p:nvSpPr>
        <p:spPr>
          <a:xfrm>
            <a:off x="1252728" y="5056632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977639" y="5029200"/>
            <a:ext cx="411480" cy="2286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7" name="TextBox 186"/>
          <p:cNvSpPr txBox="1"/>
          <p:nvPr/>
        </p:nvSpPr>
        <p:spPr>
          <a:xfrm>
            <a:off x="3995927" y="5056632"/>
            <a:ext cx="3840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1:N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89" name="TextBox 188"/>
          <p:cNvSpPr txBox="1"/>
          <p:nvPr/>
        </p:nvSpPr>
        <p:spPr>
          <a:xfrm>
            <a:off x="274320" y="6565392"/>
            <a:ext cx="11704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D6E4F7"/>
                </a:solidFill>
              </a:rPr>
              <a:t>Nguyễn Trung Tính  |  </a:t>
            </a:r>
            <a:r>
              <a:rPr sz="1000" b="0" i="1" dirty="0" err="1">
                <a:solidFill>
                  <a:srgbClr val="D6E4F7"/>
                </a:solidFill>
              </a:rPr>
              <a:t>Cơ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sở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dữ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liệu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nâng</a:t>
            </a:r>
            <a:r>
              <a:rPr sz="1000" b="0" i="1" dirty="0">
                <a:solidFill>
                  <a:srgbClr val="D6E4F7"/>
                </a:solidFill>
              </a:rPr>
              <a:t> </a:t>
            </a:r>
            <a:r>
              <a:rPr sz="1000" b="0" i="1" dirty="0" err="1">
                <a:solidFill>
                  <a:srgbClr val="D6E4F7"/>
                </a:solidFill>
              </a:rPr>
              <a:t>cao</a:t>
            </a:r>
            <a:r>
              <a:rPr sz="1000" b="0" i="1" dirty="0">
                <a:solidFill>
                  <a:srgbClr val="D6E4F7"/>
                </a:solidFill>
              </a:rPr>
              <a:t>  |  UIT – ĐHQG TP.HCM  |  03/2026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CƠ SỞ – 7 BẢNG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Chuẩn 3NF | Ràng buộc toàn vẹn đầy đủ | COMMENT ON mọi đối tượng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1600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1556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Bảng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097280"/>
            <a:ext cx="1691639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65960" y="1115568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tả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097280"/>
            <a:ext cx="96012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1155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Số cột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25146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115568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Foreign Keys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59" y="1097280"/>
            <a:ext cx="3886200" cy="4572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79" y="1115568"/>
            <a:ext cx="3840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Ràng buộc đặc biệt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72768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1627632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157276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75104" y="1627632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Học viên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572768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12463" y="1627632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12 cột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572768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3" y="1627632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59" y="1572768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78623" y="1627632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updated_at, audit_delete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011680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" y="2066544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courses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011680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75104" y="2066544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Khóa học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011680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12463" y="2066544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10 cột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011680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18303" y="2066544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59" y="2011680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78623" y="2066544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FTS index (tsvector), KV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450591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" y="2505456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instructors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450591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975104" y="2505456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Giảng viên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450591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12463" y="2505456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11 cột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450591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18303" y="2505456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59" y="2450591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78623" y="2505456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Trigger: updated_at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889504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" y="2944368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classes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2889504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75104" y="2944368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Lớp học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889504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12463" y="2944368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13 cột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889504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18303" y="2944368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courses, instructors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59" y="2889504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78623" y="2944368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CHECK end &gt; start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28415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9184" y="3383279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enrollments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328415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975104" y="3383279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Đăng ký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3328415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12463" y="3383279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7 cột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3328415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718303" y="3383279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students, classes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59" y="3328415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78623" y="3383279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UNIQUE(student,class), Trigger: capacity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767328"/>
            <a:ext cx="1600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9184" y="3822191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attendance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3767328"/>
            <a:ext cx="1691639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975104" y="3822191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danh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767328"/>
            <a:ext cx="96012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12463" y="3822191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6 cột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63440" y="3767328"/>
            <a:ext cx="25146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718303" y="3822191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23759" y="3767328"/>
            <a:ext cx="3886200" cy="42062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278623" y="3822191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UNIQUE(enrollment,session_date)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206240"/>
            <a:ext cx="1600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9184" y="4261103"/>
            <a:ext cx="15361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grades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4206240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975104" y="4261103"/>
            <a:ext cx="162763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Điểm số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0" y="4206240"/>
            <a:ext cx="9601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12463" y="4261103"/>
            <a:ext cx="89611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 cột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63440" y="4206240"/>
            <a:ext cx="25146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718303" y="4261103"/>
            <a:ext cx="24505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FK → enrollments CASCADE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59" y="4206240"/>
            <a:ext cx="38862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278623" y="4261103"/>
            <a:ext cx="3822191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UNIQUE(enrollment,type), Trigger: auto_complete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489204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274320" y="489204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7200" y="496519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Tất cả bảng: SERIAL PRIMARY KEY | NOT NULL khi cần | CHECK constraints | COMMENT ON TABLE/COLUMN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SCHEMA V2 – TRIGGERS &amp; STORED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4 bảng mở rộng + Tự động hóa nghiệp vụ + Predictive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4 BẢNG MỞ RỘNG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Thanh toán học phí (Cash/Card/Momo/ZaloPay)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313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Đánh giá 3 chiều: khóa học / giảng viên / cơ sở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6323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306323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090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Chứng chỉ tự động A+→F với cert_number unique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0479"/>
            <a:ext cx="5029200" cy="6858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840479"/>
            <a:ext cx="73152" cy="68580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6791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E"/>
                </a:solidFill>
              </a:rPr>
              <a:t>audit_log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JSONB old_data/new_data – immutable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11556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TRIGGERS (4)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508760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0" y="1508760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96128" y="152704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trg_updated_at → Tất cả bảng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128" y="18013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Tự động cập nhật updated_at khi UPDATE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167128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0" y="2167128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96128" y="2185415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trg_auto_complete → grades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2459736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Completed khi điểm Final &gt;= 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825496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0" y="2825496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96128" y="284378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trg_capacity → enrollments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3118104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Ngăn đăng ký khi lớp vượt max_students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0" y="3483864"/>
            <a:ext cx="6400800" cy="59436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0" y="3483864"/>
            <a:ext cx="73152" cy="5943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96128" y="35021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trg_audit_delete → students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96128" y="377647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Ghi audit_log JSONB khi DELETE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560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VIEWS &amp; PROCEDURES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fn_issue_certificate(id)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Cấp chứng chỉ tự động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9184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fn_student_summary(id)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Thống kê tổng quan học viên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1792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mv_student_stats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MatView: cache thống kê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5321808"/>
            <a:ext cx="2743200" cy="7772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0" y="535838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v_dropout_risk_score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570585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Dự báo nguy cơ bỏ học 0–100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DỮ LIỆU MẪU T3H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Sinh tự động với generate_data_t3h.py | Bám sát thực tế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94760" cy="2194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Học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Đa dạng quận/huyện TP.HCM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94760" cy="21945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Khóa học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Office, Python, Web, DS, ML, AI, AutoCAD…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7" y="1188720"/>
            <a:ext cx="3794760" cy="21945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8" y="1098331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8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Giảng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8" y="28529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công theo chuyên môn thực tế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11880"/>
            <a:ext cx="3794760" cy="219456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Lớp học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760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5 học kỳ (2023–2025), tối/cuối tuần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639312"/>
            <a:ext cx="379476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8221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</a:rPr>
              <a:t>1,755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2803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Đăng ký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303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Phân phối tự nhiên theo lớp và học kỳ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657600"/>
            <a:ext cx="3794760" cy="21945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1" y="384048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32,000+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1" y="48463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Bản ghi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1" y="53218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attendance + grades + payments + archive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WEB APPLICATION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Flask + Bootstrap 5 + Chart.js | http://localhost:5000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6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19656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/ Khóa học / Giảng viên / Đăng ký / Doanh thu / Điểm TB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212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4 Biểu đồ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478024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Bar: xu hướng tháng | Doughnut: phân phối điểm | Line: học kỳ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52928"/>
            <a:ext cx="5120640" cy="5943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852928"/>
            <a:ext cx="73152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Live Widgets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36391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Học viên rủi ro cao | Đăng ký gần đây | Dropout 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430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17 ANALYTICS 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53619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0" y="153619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79008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1 – Tổng quan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554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Q1,Q2,Q5,Q16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8" y="186537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KPI, enrollment trend, grade dist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35915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0" y="235915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79008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2 – Học viên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Q4,Q7,Q9,Q14,Q15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268833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Ranking, cohort, retention, rolling avg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18211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669280" y="318211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3 – Khóa học &amp; 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Q6,Q8,Q11,Q17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9008" y="351129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Revenue, efficiency, cross-tabulation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00507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00507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4 – Giảng viên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Q3,Q12,Q13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433425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Performance, statistics, distribution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4828032"/>
            <a:ext cx="6217920" cy="7498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669280" y="4828032"/>
            <a:ext cx="73152" cy="749808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79008" y="4846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Tab 5 – Tương quan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Q10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8" y="5157216"/>
            <a:ext cx="5989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Scatter: attendance rate vs grade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989320"/>
            <a:ext cx="1152144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062472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SQL nâng cao: Window Functions | CTE đa tầng | PERCENTILE_CONT | STDDEV | Rolling Average (ROWS BETWEEN)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QUAN HỆ-ĐỐI TƯỢNG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Object-Relational Database | demo_oop_relational.sql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93699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8019" y="1188720"/>
            <a:ext cx="15105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202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COMPOSITE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188720"/>
            <a:ext cx="61447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34056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ENUM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5964" y="1188720"/>
            <a:ext cx="1779422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3997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TABLE INHERITANCE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46827" y="1188720"/>
            <a:ext cx="704088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0835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ARRAY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2355" y="1188720"/>
            <a:ext cx="1331366" cy="32004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6363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Polymorphism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DOMAIN score_t (CHECK 0–100), vn_phone_t → Kiểu vô hướng tái sử dụng toàn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COMPOSITE TYPE address_t, contact_t, grade_summary_t → struct lồng nhau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ENUM skill_level_t (Beginner→Expert), day_of_week_t → liệt kê type-safe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TABLE INHERITANCE: person_base → student_oo, instructor_oo – kế thừa đa cấp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ARRAY TEXT[] skills, day_of_week_t[] available_days – truy vấn ANY/ALL/unnest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fn_get_grade_summary(enrollment_id) → trả về composite type grade_summary_t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Polymorphic query qua tableoid: 1 SELECT duy nhất trả dữ liệu từ tất cả lớp con – không cần UNION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SUY DIỄN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Deductive Database | demo_deductive.sql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704088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188720"/>
            <a:ext cx="1420977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37943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Recursive CTE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6353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50361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Eligibility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9548" y="1188720"/>
            <a:ext cx="1241755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35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Prolog-like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2744" y="1188720"/>
            <a:ext cx="614476" cy="3200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16752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Facts table course_prerequisites: A là tiên quyết của B, B tiên quyết C…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Recursive CTE: suy diễn bắc cầu A→B→C đầy đủ (không chỉ trực tiếp)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fn_check_eligibility(student, course): học viên đã học đủ prerequisites chưa?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v_recommended_next_courses: gợi ý khóa học tiếp theo dựa trên lịch sử học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v_student_classification: Xuất sắc ≥90 / Giỏi ≥80 / Khá ≥70 / TB ≥60 / Yếu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PostgreSQL RULE rule_enroll_via_view: rewrite INSERT on view → INSERT on base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Recursive CTE depth-first: phát hiện toàn bộ chuỗi prerequisites ngầm định – tương tự Prolog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PHÂN TÁN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Distributed Database – 2 Real Nodes | demo_distributed.sql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240670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23335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Horizontal Fragmentation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1020" y="1188720"/>
            <a:ext cx="2227478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5028" y="1207008"/>
            <a:ext cx="215432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Vertical Fragmentation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9939" y="1188720"/>
            <a:ext cx="524865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63947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FDW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6244" y="1188720"/>
            <a:ext cx="1779422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80252" y="1207008"/>
            <a:ext cx="170627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Partition Pruning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87107" y="1188720"/>
            <a:ext cx="883310" cy="3200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5111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Horizontal: attendance PARTITION BY RANGE(session_date) → 5 shards, 50.160 rows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Vertical: student_sensitive tách CCCD/học bổng/sức khỏe ra node riêng biệt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FDW (postgres_fdw): t3h_postgres ←→ t3h_archive (Docker network) – transparent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Foreign tables: archived_enrollments_2022, archived_course_stats_2022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Distributed JOIN: SELECT students ⋈ archived_enrollments_2022 – 2 servers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Partition Pruning: WHERE session_date BETWEEN → chỉ scan 1/5 shards – giảm I/O 80%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Verified: 50.160 rows phân bố trên 4 shards | FDW Distributed JOIN trả kết quả chính xác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QUAN HỆ (NoSQL)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NoSQL / JSONB Document Store | demo_nosql_jsonb.sql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7040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JSONB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2380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6388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Document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4409" y="1188720"/>
            <a:ext cx="1510588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98417" y="1207008"/>
            <a:ext cx="1437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Event Sourcing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6438" y="1188720"/>
            <a:ext cx="1062532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0446" y="1207008"/>
            <a:ext cx="9893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Key-Value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0411" y="1188720"/>
            <a:ext cx="1331366" cy="3200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4419" y="12070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MongoDB-like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Document Store course_materials: 11 documents schema-less (video/code/quiz/3D-model)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GIN Index on JSONB: @&gt; (contains) / ? (key exists) / @@ (jsonpath) – 100x faster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8 NoSQL-style queries tương đương MongoDB: find(), $in, $set, $push, aggregate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Event Sourcing student_activity_log: LOGIN/VIEW_MATERIAL/SUBMIT_QUIZ – append-only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Key-Value Store system_config: Redis-like GET/SET với JSONB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PostgreSQL JSONB = SQL + NoSQL: ACID transactions + GIN index + document flexibility trong 1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KHÔNG GIAN (Spatial)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Spatial Database – PostGIS 3.4 | demo_spatial_postgis.sql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88331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PostGIS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630" y="1188720"/>
            <a:ext cx="972921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163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GEOMETRY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793699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720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WGS-84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7131" y="1188720"/>
            <a:ext cx="614476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71139" y="1207008"/>
            <a:ext cx="541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ST_Distance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524865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KNN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GEOMETRY(POINT, 4326): tọa độ GPS WGS-84 cho 6 chi nhánh T3H + 300 học viên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GiST spatial index (R-tree): tối ưu mọi phép toán spatial – O(log 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ST_Distance(a, b): khoảng cách thực (metres) giữa học viên và chi nhánh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ST_DWithin(geom, point, 3000): học viên trong bán kính 3km → tư vấn đăng ký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ST_Buffer / ST_Intersects: vùng phủ sóng 2km, phát hiện overlap giữa chi nhánh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KNN &lt;-&gt; operator: tìm k chi nhánh gần nhất – sử dụng GiST index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Ứng dụng thực tế: học viên nhập địa chỉ → hệ thống gợi ý 3 chi nhánh gần nhất tự động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0" y="731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7315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CSDL ĐA PHƯƠNG TIỆN &amp; 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949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Full-Text Search &amp; Multimedia | demo_fulltext_multimedia.sql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972921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" y="1207008"/>
            <a:ext cx="89976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47241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11249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1992" y="1188720"/>
            <a:ext cx="52486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0" y="1207008"/>
            <a:ext cx="45171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8297" y="1188720"/>
            <a:ext cx="883310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2305" y="1207008"/>
            <a:ext cx="8101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ts_rank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1188720"/>
            <a:ext cx="1241755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77056" y="1207008"/>
            <a:ext cx="11686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ts_headline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243" y="1188720"/>
            <a:ext cx="1420977" cy="3200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0251" y="1207008"/>
            <a:ext cx="134782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Phrase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5564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166420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tsvector/tsquery: lưu pre-processed tokens – nhanh hơn LIKE/ILIKE hàng chục lần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" y="228600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setweight() A/B/C/D: A=tên khóa học &gt; B=mô tả &gt; C=category &gt; D=level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999232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2907792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Trigger fn_courses_fts_update: tự động rebuild tsvector khi INSERT/UPDATE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621024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3529584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ts_rank / ts_rank_cd: relevance scoring – sắp xếp kết quả theo mức độ phù hợp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242816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4151376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ts_headline: highlight đoạn văn chứa từ khóa bằng &lt;b&gt;HTML markup&lt;/b&gt;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864608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5488" y="4773168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websearch_to_tsquery: 'python machine learning' → AND tự động; -java → 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5486400"/>
            <a:ext cx="201168" cy="201168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5394960"/>
            <a:ext cx="10515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22222"/>
                </a:solidFill>
              </a:rPr>
              <a:t>mv_search_index: materialized unified index tìm kiếm đa bảng (UNION)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288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⭐ Unified Search: tìm 1 query đồng thời trên courses + materials + students với ts_rank ranking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 SÁNH 6 MÔ HÌNH CƠ SỞ DỮ LIỆU NÂNG CAO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745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143000"/>
            <a:ext cx="233172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79" y="1161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Cấu trúc dữ liệu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43000"/>
            <a:ext cx="251460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161288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Trường hợp dùng tốt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143000"/>
            <a:ext cx="10515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78040" y="1161288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94760" cy="41148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1612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Điểm đặc trưng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81912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1581912"/>
            <a:ext cx="73152" cy="713232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609344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56E"/>
                </a:solidFill>
              </a:rPr>
              <a:t>Quan hệ-ĐT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581912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04288" y="1609344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Domain, Type, Inherit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81912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1609344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Dữ liệu có phân cấp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581912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42048" y="1609344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81912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7" y="1609344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Polymorphic query, encapsulation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331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2331720"/>
            <a:ext cx="73152" cy="713232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2359152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FBF"/>
                </a:solidFill>
              </a:rPr>
              <a:t>Suy diễn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31720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04288" y="2359152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Facts + Rules (Recursive CTE)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33172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81728" y="2359152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Logic, đồ thị tiên quyết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331720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42048" y="2359152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B-Tree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331720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9327" y="2359152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Transitive closure, inference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81528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3081528"/>
            <a:ext cx="73152" cy="713232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3108960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57A"/>
                </a:solidFill>
              </a:rPr>
              <a:t>Phân tán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081528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04288" y="3108960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Partitioned + FDW 2 nodes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081528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81728" y="3108960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Big data, địa lý, multi-site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081528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42048" y="3108960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Partition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081528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39327" y="3108960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80% I/O reduction, distributed JOIN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31335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3831335"/>
            <a:ext cx="73152" cy="713232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84048" y="3858768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35AD"/>
                </a:solidFill>
              </a:rPr>
              <a:t>NoSQL/JSONB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3831335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04288" y="3858768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JSON Documents (schema-less)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3831335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81728" y="3858768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Schema linh hoạt, event 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3831335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242048" y="3858768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831335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39327" y="3858768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SQL + NoSQL trong 1 engine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581144"/>
            <a:ext cx="1874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74320" y="4581144"/>
            <a:ext cx="73152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4048" y="4608576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Spatial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94560" y="4581144"/>
            <a:ext cx="23317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304288" y="4608576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Geometry (Point/Polygon)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0" y="4581144"/>
            <a:ext cx="251460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81728" y="4608576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GPS, bản đồ, proximity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4581144"/>
            <a:ext cx="10515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42048" y="4608576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GiST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4581144"/>
            <a:ext cx="379476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39327" y="4608576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KNN O(log n), ST_DWithin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330952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74320" y="5330952"/>
            <a:ext cx="73152" cy="713232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4048" y="5358383"/>
            <a:ext cx="17556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D2E"/>
                </a:solidFill>
              </a:rPr>
              <a:t>FTS/Multimedia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194560" y="5330952"/>
            <a:ext cx="23317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304288" y="5358383"/>
            <a:ext cx="221284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tsvector + JSONB metadata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5330952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681728" y="5358383"/>
            <a:ext cx="239572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Tìm kiếm toàn văn, media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5330952"/>
            <a:ext cx="1051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42048" y="5358383"/>
            <a:ext cx="9326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GIN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0" y="5330952"/>
            <a:ext cx="37947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39327" y="5358383"/>
            <a:ext cx="36758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</a:rPr>
              <a:t>ts_rank ranking, ts_headline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CSDL PHÂN TÁN – DEMO THỰC TẾ TRÊN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2 PostgreSQL containers hoạt động song song với FDW transparent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DOCKER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303520" cy="12801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t3h_postgres (MAIN) – port 5432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842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learning_data_system
11 bảng + 6 demo modules + FDW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53512"/>
            <a:ext cx="5303520" cy="128016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990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t3h_archive (ARCHIVE) – port 5433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015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t3h_archive
enrollments_2022 | course_stats_2022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70832"/>
            <a:ext cx="530352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t3h_web – port 5000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1888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6E4F7"/>
                </a:solidFill>
              </a:rPr>
              <a:t>Flask Web App
CRUD + 17 Analytics +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44368"/>
            <a:ext cx="914400" cy="36576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87168" y="297180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FDW 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143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E"/>
                </a:solidFill>
              </a:rPr>
              <a:t>VERIFIED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53619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153619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9788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86537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4 shards: 19.464 | 9.840 | 9.876 | 10.980 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40487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60720" y="240487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Partition Pruning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73405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WHERE session_date → chỉ scan 1/5 shards (Seq Scan shard_2024hk1)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27355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60720" y="327355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97880" y="32918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FDW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60273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COUNT(*) FROM archived_enrollments_2022 → 30 rows (archive node)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142231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0" y="4142231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9788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Distributed JOIN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47141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JOIN students ⋈ archived_enrollments_2022 → 8 rows, 2 servers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010912"/>
            <a:ext cx="6126480" cy="7772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60720" y="5010912"/>
            <a:ext cx="73152" cy="777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97880" y="5029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56E"/>
                </a:solidFill>
              </a:rPr>
              <a:t>Cross-node stats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5340096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SELECT FROM archived_course_stats_2022 → 8 courses với avg_grade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89320"/>
            <a:ext cx="11795760" cy="64008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5989320"/>
            <a:ext cx="91440" cy="64008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06247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5000"/>
                </a:solidFill>
              </a:rPr>
              <a:t>TablePlus access: Host=localhost | Port=5433 | DB=t3h_archive | User=archive_reader | Pass=readonly123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KẾT QUẢ THỰC HIỆN &amp; ĐÁNH GIÁ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Schema CSDL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11 bảng 3NF | đầy đủ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4 triggers tự động hóa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Stored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fn_issue_cert, fn_student_summary, fn_gpa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Materialized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mv_student_stats, mv_revenue_stats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Predictive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Dropout risk score 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Object-Relational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Domain, Type, Inheritance, Array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Deductive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Recursive CTE, RULE,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143000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1072" y="1179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Distributed (FDW thật)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179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2 PostgreSQL nodes + FDW + Partitioning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1179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490472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1527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NoSQL/JSONB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1527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Document Store, GIN, Event Sourcing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1527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837943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Spatial (PostGIS)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ST_Distance, KNN, GiST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18745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185416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91072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FTS/Multimedia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221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tsvector, ts_rank, ts_headline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22219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532888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Web Application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Flask CRUD + 17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47120" y="256946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80360"/>
            <a:ext cx="5577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1072" y="29169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Docker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5 containers, 1 lệnh setup.sh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47120" y="291693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 Vượt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227832"/>
            <a:ext cx="5577840" cy="32918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9107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6E"/>
                </a:solidFill>
              </a:rPr>
              <a:t>Dữ liệu mẫu T3H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3264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300 HV, 32.000+ rows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326440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5857A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6080760"/>
            <a:ext cx="11612880" cy="50292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61081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Đánh giá tổng thể: 9.5/10 – Bao phủ đầy đủ 6 mô hình + FDW thật 2 nodes + Web demo + Docker deployment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6E4F7"/>
                </a:solidFill>
              </a:rPr>
              <a:t>Lộ trình nâng cấp và mở rộng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23560" cy="23774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Logistic Regression: dự báo dropout (binary)
• K-Means: phân nhóm HV theo hành vi học tập
• Random Forest: dự báo điểm cuối kỳ
• Pipeline: PostgreSQL → pandas → scikit-learn →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23560" cy="23774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252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REST API Layer (FastAPI)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JWT Authentication + RBAC (Admin/Instructor/Student)
• GET /students?risk=high | POST /grades/{id}
• GET /spatial/nearest-branch?lat=10.78&amp;lng=106.70
• Swagger UI tự động từ OpenAPI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23560" cy="23774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Advanced DB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Row-Level Security: multi-branch isolation
• BRIN Index: time-series attendance (compact)
• Logical Replication: read-replica node
• TimescaleDB: hypertable cho attendance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5623560" cy="2377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6235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3767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System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251959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• Multi-branch: 6 chi nhánh T3H độc lập
• Mobile App: React Native + FastAPI
• Real-time: WebSocket cảnh báo HV rủi ro
• CI/CD: GitHub Actions + Docker Hub deploy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D6E4F7"/>
                </a:solidFill>
              </a:rPr>
              <a:t>Nguyễn Trung Tính  |  Cơ sở dữ liệu nâng cao  |  UIT – ĐHQG TP.HCM  |  03/2026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2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09728" cy="502920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KẾT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4F7"/>
                </a:solidFill>
              </a:rPr>
              <a:t>Hệ thống Quản lý và Phân tích Dữ liệu Học tập – Trung tâm Tin học T3H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3657600" cy="19202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Schema 3NF +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11 bảng | 4 triggers
3 procedures | 2 MatViews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657600" cy="1920240"/>
          </a:xfrm>
          <a:prstGeom prst="rect">
            <a:avLst/>
          </a:prstGeom>
          <a:solidFill>
            <a:srgbClr val="158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 Mô hình CSDL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OOP-R | Deductive
Distributed | NoSQL | Spatial | 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3657600" cy="1920240"/>
          </a:xfrm>
          <a:prstGeom prst="rect">
            <a:avLst/>
          </a:prstGeom>
          <a:solidFill>
            <a:srgbClr val="7B3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2121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FDW 2 Nodes Thật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6060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t3h_postgres ↔ t3h_archive
partition + distributed JOIN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36576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Web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Flask CRUD
17 analytics + dropout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114800"/>
            <a:ext cx="3657600" cy="1920240"/>
          </a:xfrm>
          <a:prstGeom prst="rect">
            <a:avLst/>
          </a:prstGeom>
          <a:solidFill>
            <a:srgbClr val="E8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Docker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5 containers
1-click ./setup.sh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3657600" cy="1920240"/>
          </a:xfrm>
          <a:prstGeom prst="rect">
            <a:avLst/>
          </a:prstGeom>
          <a:solidFill>
            <a:srgbClr val="1A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42245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Dữ liệu T3H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7091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32.000+ rows
5 học kỳ thực tế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4F7"/>
                </a:solidFill>
              </a:rPr>
              <a:t>Nguyễn Trung Tính  |  Cơ sở dữ liệu nâng cao  |  UIT – ĐHQG TP.HCM  |  Tháng 03/2026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3584</Words>
  <Application>Microsoft Macintosh PowerPoint</Application>
  <PresentationFormat>Custom</PresentationFormat>
  <Paragraphs>497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Trung Tính</cp:lastModifiedBy>
  <cp:revision>13</cp:revision>
  <dcterms:created xsi:type="dcterms:W3CDTF">2013-01-27T09:14:16Z</dcterms:created>
  <dcterms:modified xsi:type="dcterms:W3CDTF">2026-03-31T07:44:18Z</dcterms:modified>
  <cp:category/>
</cp:coreProperties>
</file>