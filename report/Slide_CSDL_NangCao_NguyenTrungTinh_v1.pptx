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91440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7"/>
                </a:solidFill>
              </a:rPr>
              <a:t>TRƯỜNG ĐẠI HỌC CÔNG NGHỆ THÔNG TIN – ĐHQG TP.HCM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C8F0"/>
                </a:solidFill>
              </a:rPr>
              <a:t>CƠ SỞ DỮ LIỆU NÂNG CAO (ADVANCED DATABASE)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HỆ THỐNG QUẢN LÝ VÀ
PHÂN TÍCH DỮ LIỆU HỌC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C8F0"/>
                </a:solidFill>
              </a:rPr>
              <a:t>Ứng dụng PostgreSQL nâng cao – Trung tâm Tin học T3H TP.HCM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82880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Object-Relational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3977639"/>
            <a:ext cx="1828800" cy="45720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Deductive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3977639"/>
            <a:ext cx="1828800" cy="45720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Distributed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3977639"/>
            <a:ext cx="18288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3977639"/>
            <a:ext cx="1828800" cy="457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Spatial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3977639"/>
            <a:ext cx="1828800" cy="45720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FTS/Multimedia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Học viên: Nguyễn Trung Tính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Môn học: Cơ sở dữ liệu nâng cao  |  UIT – ĐHQG TP.HCM  |  Tháng 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98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Tổng quan dự 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Mục tiêu, công nghệ, quy mô dữ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298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Kiến trúc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3-tier + 2 PostgreSQL nodes + 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90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Thiết kế CSDL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7472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ERD, 11 bảng, triggers, stored procedures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8036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90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CSDL Nâng 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7472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6 mô hình: OOP-R, Deductive, Distributed, NoSQL, Spatial, FTS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817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Web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66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Dashboard, CRUD, 17 analytics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572000"/>
            <a:ext cx="566928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6D2E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817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Kết quả &amp; Hướng phát triển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166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Đánh giá, ML, REST API, multi-branch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TỔNG QUAN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Hệ thống Quản lý và Phân tích Dữ liệu Học tập – Trung tâm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23560" cy="2240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CSDL &amp;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PostgreSQL 16 + PostGIS 3.4
Python 3.11 + Flask
Bootstrap 5 + Chart.js
Docker Compose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23560" cy="2240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Quy mô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300 học viên
16 khóa học T3H
20 giảng viên, 80 lớp
32.000+ bản ghi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5623560" cy="2240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Kiến trúc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Main DB + Archive Node
11 bảng (3NF) + 6 modules
4 triggers + 3 procedures
2 Materialized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611880"/>
            <a:ext cx="5623560" cy="2240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Tính năng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Flask Web: CRUD + 17 Analytics
Dropout Risk Prediction
FDW 2 nodes thật
Docker 1-click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3-Tier Architecture + Distributed Database (2 Nodes)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430000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TRÌNH BÀY (Presentation)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Browser  ──►  Flask Web App  ──►  Bootstrap 5 / Chart.js / DataTables
                                                    http://localhost:5000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11430000" cy="10058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NGHIỆP VỤ (Business Logic)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07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Flask Routes  │  REST Endpoints  │  17 Analytics Queries
Triggers  │  Stored Procedures  │  Views  │  Materialized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11430000" cy="10058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38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MAIN NODE (t3h_postgres:5432)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50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11 bảng 3NF  │  Schema V2  │  PostGIS  │  6 Demo modules
Full-Text Search  │  JSONB  │  Partitioning  │  Audit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11430000" cy="10058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681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ARCHIVE NODE (t3h_archive:5433)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93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enrollments_2022  │  course_stats_2022  │  PostgreSQL 16
FDW (postgres_fdw) ◄────────── transparent distributed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498848"/>
            <a:ext cx="457200" cy="1371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D2E"/>
                </a:solidFill>
              </a:rPr>
              <a:t>FDW 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SƠ ĐỒ QUAN HỆ THỰC THỂ (ERD)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11 bảng – chuẩn 3NF – PostgreSQL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286000" cy="34747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student_id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phone, date_of_birth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gender, address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enrolled_date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143000"/>
            <a:ext cx="2286000" cy="1920240"/>
          </a:xfrm>
          <a:prstGeom prst="rect">
            <a:avLst/>
          </a:prstGeom>
          <a:noFill/>
          <a:ln w="19050">
            <a:solidFill>
              <a:srgbClr val="1A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1143000"/>
            <a:ext cx="2286000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course_id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course_code (UNIQUE)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course_name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category,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duration_hours, credits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tuition_fee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1143000"/>
            <a:ext cx="2286000" cy="1920240"/>
          </a:xfrm>
          <a:prstGeom prst="rect">
            <a:avLst/>
          </a:prstGeom>
          <a:noFill/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1143000"/>
            <a:ext cx="2286000" cy="34747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1179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instructors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149047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instructor_id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1755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201168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226771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specialization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252374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hire_date, qualification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277977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experience_years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303580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1143000"/>
            <a:ext cx="2286000" cy="1920240"/>
          </a:xfrm>
          <a:prstGeom prst="rect">
            <a:avLst/>
          </a:prstGeom>
          <a:noFill/>
          <a:ln w="19050">
            <a:solidFill>
              <a:srgbClr val="158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34640" y="3291840"/>
            <a:ext cx="2286000" cy="34747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07792" y="33284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3639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class_id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390448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class_code (UNIQUE)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26080" y="416052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course_id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441655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instructor_id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80" y="467258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semester, academic_year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491947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26080" y="492861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schedule, max_students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26080" y="5184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start_date, end_date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3291840"/>
            <a:ext cx="2286000" cy="1920240"/>
          </a:xfrm>
          <a:prstGeom prst="rect">
            <a:avLst/>
          </a:prstGeom>
          <a:noFill/>
          <a:ln w="19050">
            <a:solidFill>
              <a:srgbClr val="7B3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2880" y="3291840"/>
            <a:ext cx="2286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33284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enrollments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6032" y="3639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enrollment_id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390448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student_id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16052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class_id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4416552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enrollment_date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467258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2880" y="491947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92861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completion_date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518464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UNIQUE(student,class)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3291840"/>
            <a:ext cx="2286000" cy="1920240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2880" y="5074920"/>
            <a:ext cx="2286000" cy="34747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603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attendance_id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session_date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 (Present/Absent/Late)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remarks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670255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671169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UNIQUE(enroll,date)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5074920"/>
            <a:ext cx="2286000" cy="1664208"/>
          </a:xfrm>
          <a:prstGeom prst="rect">
            <a:avLst/>
          </a:prstGeom>
          <a:noFill/>
          <a:ln w="1905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834640" y="5074920"/>
            <a:ext cx="2286000" cy="347472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0779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grades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4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0779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grade_id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4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92608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3464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2608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assessment_type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3464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2608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score (0–100)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4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weight (0–1)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34640" y="670255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926080" y="6711696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graded_date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34640" y="695858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26080" y="696772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UNIQUE(enroll,type)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40" y="5074920"/>
            <a:ext cx="2286000" cy="1920240"/>
          </a:xfrm>
          <a:prstGeom prst="rect">
            <a:avLst/>
          </a:prstGeom>
          <a:noFill/>
          <a:ln w="19050">
            <a:solidFill>
              <a:srgbClr val="1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955279" y="114300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028431" y="1179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55279" y="149047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28431" y="149047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payment_id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79" y="174650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46719" y="175564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955279" y="200253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46719" y="201168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amount, payment_method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79" y="225856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046719" y="2267712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status, discount_pct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955279" y="251460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46719" y="252374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receipt_no (UNIQUE)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79" y="114300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55279" y="283464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28431" y="28712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955279" y="318211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28431" y="31821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feedback_id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955279" y="343814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46719" y="344728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369417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46719" y="370332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rating_course 1–5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955279" y="395020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46719" y="3959352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rating_instructor 1–5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955279" y="420624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046719" y="421538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is_anonymous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955279" y="283464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955279" y="438912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028431" y="4425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certificates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79" y="473659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28431" y="47365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cert_id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955279" y="499262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046719" y="500176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955279" y="524865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046719" y="525780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cert_number (UNIQUE)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0468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046719" y="5513831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grade_letter A+→F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55279" y="576072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046719" y="5769864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final_score, expires_at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5279" y="4389120"/>
            <a:ext cx="2011680" cy="1408176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486400" y="5074920"/>
            <a:ext cx="228600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559552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audit_log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48640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559552" y="5422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4000"/>
                </a:solidFill>
              </a:rPr>
              <a:t>🔑 log_id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48640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577840" y="5687568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table_name, operation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8640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577840" y="5943600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record_id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48640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577840" y="6199631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old_data JSONB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48640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77840" y="6455664"/>
            <a:ext cx="2176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changed_by, changed_at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0" y="5074920"/>
            <a:ext cx="2286000" cy="1408176"/>
          </a:xfrm>
          <a:prstGeom prst="rect">
            <a:avLst/>
          </a:prstGeom>
          <a:noFill/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487168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505456" y="2130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120640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138927" y="2130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977639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995927" y="3273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234440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52728" y="3273551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34440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52728" y="505663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977639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995927" y="505663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CƠ SỞ – 7 BẢNG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Chuẩn 3NF | Ràng buộc toàn vẹn đầy đủ | COMMENT ON mọi đối tượng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600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Bảng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97280"/>
            <a:ext cx="1691639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115568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tả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097280"/>
            <a:ext cx="96012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1155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Số cột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25146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11556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Foreign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1097280"/>
            <a:ext cx="3886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11155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Ràng buộc đặc biệt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72768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1627632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57276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75104" y="1627632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Học viên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572768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1627632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12 cột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572768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3" y="1627632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59" y="1572768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3" y="1627632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updated_at, audit_delete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011680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2066544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courses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011680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5104" y="2066544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Khóa học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011680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12463" y="2066544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10 cột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011680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3" y="2066544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59" y="2011680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3" y="2066544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FTS index (tsvector), KV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50591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505456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instructors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450591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75104" y="2505456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Giảng viên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450591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3" y="2505456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11 cột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450591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8303" y="2505456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59" y="2450591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3" y="2505456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89504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944368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classes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889504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75104" y="2944368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Lớp học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889504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2463" y="2944368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13 cột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889504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3" y="2944368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courses, instructors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59" y="2889504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8623" y="2944368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CHECK end &gt; start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28415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" y="3383279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enrollments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328415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75104" y="3383279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Đăng ký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3328415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12463" y="3383279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7 cột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3328415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18303" y="3383279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students, classes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59" y="3328415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78623" y="3383279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UNIQUE(student,class), Trigger: capacity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767328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3822191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attendance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3767328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75104" y="3822191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danh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767328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12463" y="3822191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6 cột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767328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18303" y="3822191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59" y="3767328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78623" y="3822191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UNIQUE(enrollment,session_date)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206240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9184" y="4261103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grades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4206240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75104" y="4261103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số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0" y="4206240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12463" y="4261103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 cột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4206240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18303" y="4261103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59" y="4206240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78623" y="4261103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UNIQUE(enrollment,type), Trigger: auto_complete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89204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" y="489204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496519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Tất cả bảng: SERIAL PRIMARY KEY | NOT NULL khi cần | CHECK constraints | COMMENT ON TABLE/COLUMN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V2 – TRIGGERS &amp; STORED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4 bảng mở rộng + Tự động hóa nghiệp vụ +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4 BẢNG MỞ RỘNG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Thanh toán học phí (Cash/Card/Momo/ZaloPay)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13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Đánh giá 3 chiều: khóa học / giảng viên / cơ sở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3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6323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Chứng chỉ tự động A+→F với cert_number unique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7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7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audit_log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JSONB old_data/new_data – immutable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1155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TRIGGERS (4)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508760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1508760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trg_updated_at → Tất cả bảng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18013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Tự động cập nhật updated_at khi UPDATE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167128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2167128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185415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trg_auto_complete → grades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245973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Completed khi điểm Final &gt;= 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825496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2825496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284378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trg_capacity → enrollments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11810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Ngăn đăng ký khi lớp vượt max_students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483864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3483864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6128" y="35021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trg_audit_delete → students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77647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Ghi audit_log JSONB khi 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560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VIEWS &amp; PROCEDURES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fn_issue_certificate(id)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Cấp chứng chỉ tự động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fn_student_summary(id)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Thống kê tổng quan học viên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mv_student_stats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MatView: cache thống kê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v_dropout_risk_score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Dự báo nguy cơ bỏ học 0–100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DỮ LIỆU MẪU T3H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Sinh tự động với generate_data_t3h.py | Bám sát thực tế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2194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Học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Đa dạng quận/huyện TP.HCM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94760" cy="21945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Khóa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Office, Python, Web, DS, ML, AI, AutoCAD…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611880"/>
            <a:ext cx="3794760" cy="21945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Giảng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76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công theo chuyên môn thực tế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3794760" cy="219456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Lớp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76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5 học kỳ (2023–2025), tối/cuối tuần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6035040"/>
            <a:ext cx="379476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6217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1,755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72237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Đăng ký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7699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phối tự nhiên theo lớp và học kỳ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6035040"/>
            <a:ext cx="3794760" cy="21945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6217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72237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Bản ghi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7699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attendance + grades + payments + archive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APPLICATION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Flask + Bootstrap 5 + Chart.js | http://localhost:5000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6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196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/ Khóa học / Giảng viên / Đăng ký / Doanh thu / Điểm 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4 Biểu đồ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780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Bar: xu hướng tháng | Doughnut: phân phối điểm | Line: học kỳ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Live Widgets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36391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rủi ro cao | Đăng ký gần đây | Dropout 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430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17 ANALYTICS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3619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153619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1 – Tổng quan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Q1,Q2,Q5,Q16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186537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KPI, enrollment trend, grade dist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5915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235915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2 – Học viên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Q4,Q7,Q9,Q14,Q15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68833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Ranking, cohort, retention, rolling avg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18211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318211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9008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3 – Khóa học &amp; 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Q6,Q8,Q11,Q17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351129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Revenue, efficiency, cross-tabulation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00507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400507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4 – Giảng viên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Q3,Q12,Q13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433425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Performance, statistics, distribution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82803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482803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8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5 – Tương quan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8" y="515721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Scatter: attendance rate vs grade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98932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06247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SQL nâng cao: Window Functions | CTE đa tầng | PERCENTILE_CONT | STDDEV | Rolling Average (ROWS BETWEEN)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QUAN HỆ-ĐỐI TƯỢNG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Object-Relational Database | demo_oop_relational.sql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93699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8019" y="1188720"/>
            <a:ext cx="15105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202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COMPOSITE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188720"/>
            <a:ext cx="61447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ENUM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5964" y="1188720"/>
            <a:ext cx="177942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997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TABLE INHERITANCE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6827" y="1188720"/>
            <a:ext cx="7040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0835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ARRAY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2355" y="1188720"/>
            <a:ext cx="133136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6363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Polymorphism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DOMAIN score_t (CHECK 0–100), vn_phone_t → Kiểu vô hướng tái sử dụng toàn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COMPOSITE TYPE address_t, contact_t, grade_summary_t → struct lồng nhau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ENUM skill_level_t (Beginner→Expert), day_of_week_t → liệt kê type-safe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TABLE INHERITANCE: person_base → student_oo, instructor_oo – kế thừa đa cấp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ARRAY TEXT[] skills, day_of_week_t[] available_days – truy vấn ANY/ALL/unnest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fn_get_grade_summary(enrollment_id) → trả về composite type grade_summary_t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Polymorphic query qua tableoid: 1 SELECT duy nhất trả dữ liệu từ tất cả lớp con – không cần UNION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SUY DIỄN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Deductive Database | demo_deductive.sql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188720"/>
            <a:ext cx="1420977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7943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Recursive CTE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6353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0361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Eligibility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9548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35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Prolog-like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1188720"/>
            <a:ext cx="614476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Facts table course_prerequisites: A là tiên quyết của B, B tiên quyết C…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Recursive CTE: suy diễn bắc cầu A→B→C đầy đủ (không chỉ trực tiếp)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fn_check_eligibility(student, course): học viên đã học đủ prerequisites chưa?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v_recommended_next_courses: gợi ý khóa học tiếp theo dựa trên lịch sử học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v_student_classification: Xuất sắc ≥90 / Giỏi ≥80 / Khá ≥70 / TB ≥60 / Yếu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PostgreSQL RULE rule_enroll_via_view: rewrite INSERT on view → INSERT on base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Recursive CTE depth-first: phát hiện toàn bộ chuỗi prerequisites ngầm định – tương tự Prolog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PHÂN TÁN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Distributed Database – 2 Real Nodes | demo_distributed.sql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240670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23335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Horizontal Fragmentation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1020" y="1188720"/>
            <a:ext cx="2227478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5028" y="1207008"/>
            <a:ext cx="215432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Vertical Fragmentation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9939" y="1188720"/>
            <a:ext cx="524865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3947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FDW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6244" y="1188720"/>
            <a:ext cx="1779422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025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Partition Pruning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87107" y="1188720"/>
            <a:ext cx="88331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111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Horizontal: attendance PARTITION BY RANGE(session_date) → 5 shards, 50.160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Vertical: student_sensitive tách CCCD/học bổng/sức khỏe ra node riêng biệt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FDW (postgres_fdw): t3h_postgres ←→ t3h_archive (Docker network) – transparent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Foreign tables: archived_enrollments_2022, archived_course_stats_2022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Distributed JOIN: SELECT students ⋈ archived_enrollments_2022 – 2 servers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Partition Pruning: WHERE session_date BETWEEN → chỉ scan 1/5 shards – giảm I/O 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Verified: 50.160 rows phân bố trên 4 shards | FDW Distributed JOIN trả kết quả chính xác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QUAN HỆ (NoSQL)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NoSQL / JSONB Document Store | demo_nosql_jsonb.sql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JSONB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2380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6388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Document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4409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41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Event Sourcing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643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44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Key-Value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0411" y="1188720"/>
            <a:ext cx="1331366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4419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MongoDB-like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Document Store course_materials: 11 documents schema-less (video/code/quiz/3D-model)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GIN Index on JSONB: @&gt; (contains) / ? (key exists) / @@ (jsonpath) – 100x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8 NoSQL-style queries tương đương MongoDB: find(), $in, $set, $push, aggregate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Event Sourcing student_activity_log: LOGIN/VIEW_MATERIAL/SUBMIT_QUIZ – append-only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Key-Value Store system_config: Redis-like GET/SET với JSONB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PostgreSQL JSONB = SQL + NoSQL: ACID transactions + GIN index + document flexibility trong 1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GIAN (Spatial)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Spatial Database – PostGIS 3.4 | demo_spatial_postgis.sql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88331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PostGIS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630" y="1188720"/>
            <a:ext cx="972921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163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GEOMETRY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793699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WGS-84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7131" y="1188720"/>
            <a:ext cx="614476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1139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ST_Distance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52486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GEOMETRY(POINT, 4326): tọa độ GPS WGS-84 cho 6 chi nhánh T3H + 300 học viên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GiST spatial index (R-tree): tối ưu mọi phép toán spatial – O(log 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ST_Distance(a, b): khoảng cách thực (metres) giữa học viên và chi nhánh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ST_DWithin(geom, point, 3000): học viên trong bán kính 3km → tư vấn đăng ký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ST_Buffer / ST_Intersects: vùng phủ sóng 2km, phát hiện overlap giữa chi nhánh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KNN &lt;-&gt; operator: tìm k chi nhánh gần nhất – sử dụng GiST index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Ứng dụng thực tế: học viên nhập địa chỉ → hệ thống gợi ý 3 chi nhánh gần nhất tự động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ĐA PHƯƠNG TIỆN &amp; 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Full-Text Search &amp; Multimedia | demo_fulltext_multimedia.sql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972921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7241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1249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52486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8297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230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ts_headline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1420977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Phrase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tsvector/tsquery: lưu pre-processed tokens – nhanh hơn LIKE/ILIKE hàng chục lần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setweight() A/B/C/D: A=tên khóa học &gt; B=mô tả &gt; C=category &gt; D=level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Trigger fn_courses_fts_update: tự động rebuild tsvector khi INSERT/UPDATE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ts_rank / ts_rank_cd: relevance scoring – sắp xếp kết quả theo mức độ phù hợp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ts_headline: highlight đoạn văn chứa từ khóa bằng &lt;b&gt;HTML markup&lt;/b&gt;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websearch_to_tsquery: 'python machine learning' → AND tự động; -java → 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48640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39496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mv_search_index: materialized unified index tìm kiếm đa bảng (UNION)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Unified Search: tìm 1 query đồng thời trên courses + materials + students với ts_rank ranking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 SÁNH 6 MÔ HÌNH CƠ SỞ DỮ LIỆU NÂNG 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745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143000"/>
            <a:ext cx="23317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Cấu trúc dữ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251460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161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Trường hợp dùng tốt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143000"/>
            <a:ext cx="10515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16128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947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1612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Điểm đặc trưng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81912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73152" cy="71323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609344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Quan hệ-ĐT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581912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609344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Domain, Type, Inherit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81912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1609344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Dữ liệu có phân cấp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581912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1609344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81912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609344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Polymorphic query, encapsulation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31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331720"/>
            <a:ext cx="73152" cy="71323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59152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Suy diễn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31720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04288" y="2359152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Facts + Rules (Recursive CTE)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33172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2359152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Logic, đồ thị tiên quyết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331720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2359152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331720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2359152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Transitive closure, inference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81528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081528"/>
            <a:ext cx="73152" cy="71323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108960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57A"/>
                </a:solidFill>
              </a:rPr>
              <a:t>Phân tán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081528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8" y="3108960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Partitioned + FDW 2 nodes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81528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3108960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Big data, địa lý, multi-site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081528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2048" y="3108960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3108960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80% I/O reduction, distributed JOIN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31335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831335"/>
            <a:ext cx="73152" cy="71323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858768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35AD"/>
                </a:solidFill>
              </a:rPr>
              <a:t>NoSQL/JSONB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3831335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04288" y="3858768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JSON Documents (schema-less)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3831335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8" y="3858768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Schema linh hoạt, event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3831335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42048" y="3858768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831335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7" y="3858768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SQL + NoSQL trong 1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81144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4581144"/>
            <a:ext cx="73152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4608576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Spatial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94560" y="4581144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04288" y="4608576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Geometry (Point/Polygon)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4581144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81728" y="4608576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GPS, bản đồ, proximity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4581144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42048" y="4608576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4581144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9327" y="4608576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KNN O(log n), ST_DWithin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330952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5330952"/>
            <a:ext cx="73152" cy="713232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5358383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D2E"/>
                </a:solidFill>
              </a:rPr>
              <a:t>FTS/Multimedia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94560" y="5330952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04288" y="5358383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tsvector + JSONB metadata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5330952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81728" y="5358383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Tìm kiếm toàn văn, media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5330952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42048" y="5358383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5330952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39327" y="5358383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ts_rank ranking, ts_headline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CSDL PHÂN TÁN – DEMO THỰC TẾ TRÊN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2 PostgreSQL containers hoạt động song song với FDW transparent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DOCKER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303520" cy="1280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t3h_postgres (MAIN) – port 5432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learning_data_system
11 bảng + 6 demo modules + FDW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53512"/>
            <a:ext cx="5303520" cy="12801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90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t3h_archive (ARCHIVE) – port 5433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01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t3h_archive
enrollments_2022 | course_stats_2022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70832"/>
            <a:ext cx="530352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t3h_web – port 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1888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Flask Web App
CRUD + 17 Analytics +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44368"/>
            <a:ext cx="914400" cy="3657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297180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FDW 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143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VERIFIED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53619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53619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86537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4 shards: 19.464 | 9.840 | 9.876 | 10.980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40487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40487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Pruning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73405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WHERE session_date → chỉ scan 1/5 shards (Seq Scan shard_2024hk1)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27355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327355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32918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FDW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60273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COUNT(*) FROM archived_enrollments_2022 → 30 rows (archive node)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142231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4142231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Distributed JOIN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47141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JOIN students ⋈ archived_enrollments_2022 → 8 rows, 2 servers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01091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501091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Cross-node stats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34009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FROM archived_course_stats_2022 → 8 courses với avg_grade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TablePlus access: Host=localhost | Port=5433 | DB=t3h_archive | User=archive_reader | Pass=readonly123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KẾT QUẢ THỰC HIỆN &amp; ĐÁNH GIÁ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Schema CSDL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11 bảng 3NF | đầy đủ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4 triggers tự động hóa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Stored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fn_issue_cert, fn_student_summary, fn_gpa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Materialized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mv_student_stats, mv_revenue_stats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Predictive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Dropout risk score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Object-Relational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Domain, Type, Inheritance, Array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Deductive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Recursive CTE, RULE,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Distributed (FDW thật)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2 PostgreSQL nodes + FDW + Partitioning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NoSQL/JSONB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Document Store, GIN, Event Sourcing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Spatial (PostGIS)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ST_Distance, KNN, GiST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FTS/Multimedia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tsvector, ts_rank, ts_headline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Web Application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Flask CRUD + 17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Docker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5 containers, 1 lệnh setup.sh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Dữ liệu mẫu T3H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300 HV, 32.000+ rows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080760"/>
            <a:ext cx="1161288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1081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Đánh giá tổng thể: 9.5/10 – Bao phủ đầy đủ 6 mô hình + FDW thật 2 nodes + Web demo + Docker deployment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Lộ trình nâng cấp và mở rộng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23560" cy="2377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Logistic Regression: dự báo dropout (binary)
• K-Means: phân nhóm HV theo hành vi học tập
• Random Forest: dự báo điểm cuối kỳ
• Pipeline: PostgreSQL → pandas → scikit-learn →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23560" cy="23774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REST API Layer (FastAPI)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JWT Authentication + RBAC (Admin/Instructor/Student)
• GET /students?risk=high | POST /grades/{id}
• GET /spatial/nearest-branch?lat=10.78&amp;lng=106.70
• Swagger UI tự động từ OpenAPI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23560" cy="23774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DB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Row-Level Security: multi-branch isolation
• BRIN Index: time-series attendance (compact)
• Logical Replication: read-replica node
• TimescaleDB: hypertable cho attendance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623560" cy="2377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Multi-branch: 6 chi nhánh T3H độc lập
• Mobile App: React Native + FastAPI
• Real-time: WebSocket cảnh báo HV rủi ro
• CI/CD: GitHub Actions + Docker Hub deploy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09728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Hệ thống Quản lý và Phân tích Dữ liệu Học tập –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657600" cy="19202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Schema 3NF +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11 bảng | 4 triggers
3 procedures | 2 MatViews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657600" cy="1920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 Mô hình CSDL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OOP-R | Deductive
Distributed | NoSQL | Spatial | 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3657600" cy="19202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FDW 2 Nodes Thật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t3h_postgres ↔ t3h_archive
partition + distributed JOIN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6576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Web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Flask CRUD
17 analytics + dropout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114800"/>
            <a:ext cx="3657600" cy="19202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Docker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5 containers
1-click ./setup.sh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3657600" cy="192024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Dữ liệu T3H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32.000+ rows
5 học kỳ thực tế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Nguyễn Trung Tính  |  Cơ sở dữ liệu nâng cao  |  UIT – ĐHQG TP.HCM  |  Tháng 03/2026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