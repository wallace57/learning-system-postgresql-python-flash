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731520"/>
            <a:ext cx="91440" cy="50292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E4F7"/>
                </a:solidFill>
              </a:rPr>
              <a:t>TRƯỜNG ĐẠI HỌC CÔNG NGHỆ THÔNG TIN – ĐHQG TP.HCM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C8F0"/>
                </a:solidFill>
              </a:rPr>
              <a:t>CƠ SỞ DỮ LIỆU NÂNG CAO (ADVANCED DATABASE)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HỆ THỐNG QUẢN LÝ VÀ
PHÂN TÍCH DỮ LIỆU HỌC TẬP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8C8F0"/>
                </a:solidFill>
              </a:rPr>
              <a:t>Ứng dụng PostgreSQL nâng cao – Trung tâm Tin học T3H TP.HCM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77639"/>
            <a:ext cx="1828800" cy="4572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399592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Object-Relational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50592" y="3977639"/>
            <a:ext cx="1828800" cy="45720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399592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Deductive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3984" y="3977639"/>
            <a:ext cx="1828800" cy="45720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399592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Distributed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37376" y="3977639"/>
            <a:ext cx="18288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399592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NoSQL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30768" y="3977639"/>
            <a:ext cx="1828800" cy="4572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399592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Spatial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4160" y="3977639"/>
            <a:ext cx="1828800" cy="457200"/>
          </a:xfrm>
          <a:prstGeom prst="rect">
            <a:avLst/>
          </a:prstGeom>
          <a:solidFill>
            <a:srgbClr val="1A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42448" y="399592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FTS/Multimedia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120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Học viên: Nguyễn Trung Tính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69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Môn học: Cơ sở dữ liệu nâng cao  |  UIT – ĐHQG TP.HCM  |  Tháng 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NỘI DUNG TRÌNH BÀY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3794760" cy="2331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2618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6D2E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8016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Mô tả &amp; Chọn lựa cách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901952"/>
            <a:ext cx="3566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7"/>
                </a:solidFill>
              </a:rPr>
              <a:t>Input/Output bài toán; tác giả trước; lý do chọn cách khác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794760" cy="2331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2618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6D2E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28016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Phân tích bài toán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1901952"/>
            <a:ext cx="3566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7"/>
                </a:solidFill>
              </a:rPr>
              <a:t>Actors, yêu cầu chức năng, ERD, luồng nghiệp vụ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188720"/>
            <a:ext cx="3794760" cy="2331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7" y="12618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6D2E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128016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Thiết kế &amp; Xây dựng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7" y="1901952"/>
            <a:ext cx="3566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7"/>
                </a:solidFill>
              </a:rPr>
              <a:t>Schema, Triggers, Procedures, 6 mô hình CSDL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703320"/>
            <a:ext cx="3794760" cy="2331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37764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6D2E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794759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6 Kịch bản Demo (a–f)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4416552"/>
            <a:ext cx="3566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7"/>
                </a:solidFill>
              </a:rPr>
              <a:t>Mục đích, lý thuyết, Input, Output, Kết quả, Bình luận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703320"/>
            <a:ext cx="3794760" cy="2331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5968" y="37764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6D2E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3794759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Phân tích dữ liệu &amp;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4416552"/>
            <a:ext cx="3566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7"/>
                </a:solidFill>
              </a:rPr>
              <a:t>17 analytics, Dropout risk, Flask, Docker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3703320"/>
            <a:ext cx="3794760" cy="2331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7" y="37764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6D2E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59" y="3794759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Thực nghiệm &amp; Đánh giá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7" y="4416552"/>
            <a:ext cx="3566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7"/>
                </a:solidFill>
              </a:rPr>
              <a:t>Benchmark, EXPLAIN ANALYZE, test triggers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6217920"/>
            <a:ext cx="3794760" cy="2331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" y="62910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6D2E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6309359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Q&amp;A + Kết luận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" y="6931152"/>
            <a:ext cx="3566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7"/>
                </a:solidFill>
              </a:rPr>
              <a:t>Câu hỏi trao đổi, tóm kết, hướng phát triển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MÔ TẢ BÀI TOÁN &amp; CHỌN LỰA CÁCH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Input / Output | Các tác giả đã làm | Tại sao chọn cách khác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1556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E"/>
                </a:solidFill>
              </a:rPr>
              <a:t>MÔ TẢ BÀI TOÁN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11612880" cy="9144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D2E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572768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Dữ liệu học viên, khóa học, điểm danh, điểm số từ nhiều file Excel phân tán
tại 6 chi nhánh T3H TP.HCM (300+ học viên, 16 khóa/năm, không hệ thống tập trung)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60320"/>
            <a:ext cx="11612880" cy="91440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624327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D2E"/>
                </a:solidFill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24327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CSDL PostgreSQL tập trung: báo cáo doanh thu, phát hiện sớm dropout risk (0–100),
tìm kiếm tài liệu thông minh, và minh họa đầy đủ 6 mô hình CSDL nâng cao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3931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E"/>
                </a:solidFill>
              </a:rPr>
              <a:t>TẠI SAO CHỌN CÁCH GIẢI KHÁC?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23360"/>
            <a:ext cx="3749039" cy="23774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411480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MySQL → 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572000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FFCC"/>
                </a:solidFill>
              </a:rPr>
              <a:t>PostgreSQL là RDBMS duy nhất hỗ trợ đầy đủ 6 mô hình CSDL nâng cao
(Table Inheritance, FDW, JSONB, PostGIS, tsvector) trong 1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4023360"/>
            <a:ext cx="3749039" cy="23774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5968" y="411480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Hệ thống sẵn → Tự xây dựng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4572000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FFCC"/>
                </a:solidFill>
              </a:rPr>
              <a:t>Kiểm soát schema → minh họa rõ ràng từng mô hình học thuật
Moodle/Canvas: schema đóng, không thể nghiên cứu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4023360"/>
            <a:ext cx="3749039" cy="23774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411480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Trừu tượng → Context T3H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4572000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FFCC"/>
                </a:solidFill>
              </a:rPr>
              <a:t>Gắn 6 mô hình vào bài toán thực (6 chi nhánh, lộ trình học, tài liệu...)
Demo có tính ứng dụng cao hơn bài toán giả định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TỔNG QUAN DỰ 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Hệ thống Quản lý và Phân tích Dữ liệu Học tập – Trung tâm T3H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623560" cy="22402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562356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435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CSDL &amp;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CC"/>
                </a:solidFill>
              </a:rPr>
              <a:t>PostgreSQL 16 + PostGIS 3.4
Python 3.11 + Flask
Bootstrap 5 + Chart.js
Docker Compose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5623560" cy="224028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562356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435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Quy mô dữ liệu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CC"/>
                </a:solidFill>
              </a:rPr>
              <a:t>300 học viên
16 khóa học T3H
20 giảng viên, 80 lớp
32.000+ bản ghi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611880"/>
            <a:ext cx="5623560" cy="224028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611880"/>
            <a:ext cx="562356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667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Kiến trúc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CC"/>
                </a:solidFill>
              </a:rPr>
              <a:t>Main DB + Archive Node
11 bảng (3NF) + 6 modules
4 triggers + 3 procedures
2 Materialized Views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611880"/>
            <a:ext cx="5623560" cy="2240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611880"/>
            <a:ext cx="562356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6667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Tính năng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CC"/>
                </a:solidFill>
              </a:rPr>
              <a:t>Flask Web: CRUD + 17 Analytics
Dropout Risk Prediction
FDW 2 nodes thật
Docker 1-click setup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KIẾN TRÚC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3-Tier Architecture + Distributed Database (2 Nodes)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430000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52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TẦNG TRÌNH BÀY (Presentation)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642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6E4F7"/>
                </a:solidFill>
              </a:rPr>
              <a:t>Browser  ──►  Flask Web App  ──►  Bootstrap 5 / Chart.js / DataTables
                                                    http://localhost:5000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31720"/>
            <a:ext cx="11430000" cy="10058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395727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TẦNG NGHIỆP VỤ (Business Logic)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072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6E4F7"/>
                </a:solidFill>
              </a:rPr>
              <a:t>Flask Routes  │  REST Endpoints  │  17 Analytics Queries
Triggers  │  Stored Procedures  │  Views  │  Materialized Views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474720"/>
            <a:ext cx="11430000" cy="10058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538727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TẦNG DỮ LIỆU – MAIN NODE (t3h_postgres:5432)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9502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6E4F7"/>
                </a:solidFill>
              </a:rPr>
              <a:t>11 bảng 3NF  │  Schema V2  │  PostGIS  │  6 Demo modules
Full-Text Search  │  JSONB  │  Partitioning  │  Audit Log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17720"/>
            <a:ext cx="11430000" cy="10058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681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TẦNG DỮ LIỆU – ARCHIVE NODE (t3h_archive:5433)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0932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6E4F7"/>
                </a:solidFill>
              </a:rPr>
              <a:t>enrollments_2022  │  course_stats_2022  │  PostgreSQL 16
FDW (postgres_fdw) ◄────────── transparent distributed queries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4498848"/>
            <a:ext cx="457200" cy="13716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44805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D2E"/>
                </a:solidFill>
              </a:rPr>
              <a:t>FDW 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SƠ ĐỒ QUAN HỆ THỰC THỂ (ERD)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11 bảng – chuẩn 3NF – PostgreSQL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143000"/>
            <a:ext cx="2286000" cy="347472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17957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students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490472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149047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4000"/>
                </a:solidFill>
              </a:rPr>
              <a:t>🔑 student_id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746504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75564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first_name, last_name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002536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011680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email (UNIQUE)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2258568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267712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phone, date_of_birth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2514600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523744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gender, address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770632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779776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enrolled_date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3026664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03580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status (CHECK)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1143000"/>
            <a:ext cx="2286000" cy="1920240"/>
          </a:xfrm>
          <a:prstGeom prst="rect">
            <a:avLst/>
          </a:prstGeom>
          <a:noFill/>
          <a:ln w="19050">
            <a:solidFill>
              <a:srgbClr val="1A3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34640" y="1143000"/>
            <a:ext cx="2286000" cy="347472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07792" y="117957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courses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1490472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07792" y="149047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4000"/>
                </a:solidFill>
              </a:rPr>
              <a:t>🔑 course_id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1746504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0" y="175564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course_code (UNIQUE)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2002536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2011680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course_name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2258568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2267712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category, level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2514600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26080" y="2523744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duration_hours, credits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2770632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0" y="2779776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tuition_fee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3026664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0" y="303580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status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1143000"/>
            <a:ext cx="2286000" cy="1920240"/>
          </a:xfrm>
          <a:prstGeom prst="rect">
            <a:avLst/>
          </a:prstGeom>
          <a:noFill/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0" y="1143000"/>
            <a:ext cx="2286000" cy="347472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59552" y="117957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instructors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1490472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59552" y="149047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4000"/>
                </a:solidFill>
              </a:rPr>
              <a:t>🔑 instructor_id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1746504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77840" y="175564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first_name, last_name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0" y="2002536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77840" y="2011680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email (UNIQUE)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2258568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2267712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specialization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0" y="2514600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77840" y="2523744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hire_date, qualification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0" y="2770632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77840" y="2779776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experience_years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3026664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77840" y="303580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status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0" y="1143000"/>
            <a:ext cx="2286000" cy="1920240"/>
          </a:xfrm>
          <a:prstGeom prst="rect">
            <a:avLst/>
          </a:prstGeom>
          <a:noFill/>
          <a:ln w="19050">
            <a:solidFill>
              <a:srgbClr val="158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834640" y="3291840"/>
            <a:ext cx="2286000" cy="347472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07792" y="332841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classes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34640" y="3639312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07792" y="363931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4000"/>
                </a:solidFill>
              </a:rPr>
              <a:t>🔑 class_id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34640" y="3895344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26080" y="390448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class_code (UNIQUE)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34640" y="4151376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26080" y="4160520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FK course_id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34640" y="4407408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26080" y="4416552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FK instructor_id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34640" y="4663440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26080" y="4672584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semester, academic_year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4640" y="4919472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26080" y="4928616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schedule, max_students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34640" y="5175504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26080" y="518464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start_date, end_date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834640" y="3291840"/>
            <a:ext cx="2286000" cy="1920240"/>
          </a:xfrm>
          <a:prstGeom prst="rect">
            <a:avLst/>
          </a:prstGeom>
          <a:noFill/>
          <a:ln w="19050">
            <a:solidFill>
              <a:srgbClr val="7B3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82880" y="3291840"/>
            <a:ext cx="2286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56032" y="332841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enrollments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2880" y="3639312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56032" y="363931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4000"/>
                </a:solidFill>
              </a:rPr>
              <a:t>🔑 enrollment_id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82880" y="3895344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4320" y="390448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FK student_id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151376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4320" y="4160520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FK class_id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82880" y="4407408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4416552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enrollment_date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82880" y="4663440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74320" y="4672584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status (CHECK)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82880" y="4919472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4320" y="4928616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completion_date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2880" y="5175504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4320" y="518464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UNIQUE(student,class)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82880" y="3291840"/>
            <a:ext cx="2286000" cy="1920240"/>
          </a:xfrm>
          <a:prstGeom prst="rect">
            <a:avLst/>
          </a:pr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82880" y="5074920"/>
            <a:ext cx="2286000" cy="347472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56032" y="51114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attendance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82880" y="5422392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56032" y="542239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4000"/>
                </a:solidFill>
              </a:rPr>
              <a:t>🔑 attendance_id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5678424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4320" y="568756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FK enrollment_id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5934456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4320" y="5943600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session_date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2880" y="6190488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74320" y="6199631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status (Present/Absent/Late)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82880" y="6446520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74320" y="6455664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remarks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6702552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74320" y="6711696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UNIQUE(enroll,date)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82880" y="5074920"/>
            <a:ext cx="2286000" cy="1664208"/>
          </a:xfrm>
          <a:prstGeom prst="rect">
            <a:avLst/>
          </a:prstGeom>
          <a:noFill/>
          <a:ln w="19050">
            <a:solidFill>
              <a:srgbClr val="C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834640" y="5074920"/>
            <a:ext cx="2286000" cy="347472"/>
          </a:xfrm>
          <a:prstGeom prst="rect">
            <a:avLst/>
          </a:prstGeom>
          <a:solidFill>
            <a:srgbClr val="1A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907792" y="51114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grades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834640" y="5422392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907792" y="542239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4000"/>
                </a:solidFill>
              </a:rPr>
              <a:t>🔑 grade_id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834640" y="5678424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926080" y="568756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FK enrollment_id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834640" y="5934456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926080" y="5943600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assessment_type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834640" y="6190488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926080" y="6199631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score (0–100)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834640" y="6446520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926080" y="6455664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weight (0–1)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834640" y="6702552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926080" y="6711696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graded_date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834640" y="6958584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926080" y="696772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UNIQUE(enroll,type)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834640" y="5074920"/>
            <a:ext cx="2286000" cy="1920240"/>
          </a:xfrm>
          <a:prstGeom prst="rect">
            <a:avLst/>
          </a:prstGeom>
          <a:noFill/>
          <a:ln w="19050">
            <a:solidFill>
              <a:srgbClr val="1A7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955279" y="1143000"/>
            <a:ext cx="2011680" cy="347472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028431" y="11795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payments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955279" y="1490472"/>
            <a:ext cx="201168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28431" y="149047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4000"/>
                </a:solidFill>
              </a:rPr>
              <a:t>🔑 payment_id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955279" y="1746504"/>
            <a:ext cx="20116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046719" y="1755648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FK enrollment_id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955279" y="2002536"/>
            <a:ext cx="201168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046719" y="2011680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amount, payment_method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55279" y="2258568"/>
            <a:ext cx="20116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046719" y="2267712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status, discount_pct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955279" y="2514600"/>
            <a:ext cx="201168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046719" y="2523744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receipt_no (UNIQUE)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955279" y="1143000"/>
            <a:ext cx="2011680" cy="1408176"/>
          </a:xfrm>
          <a:prstGeom prst="rect">
            <a:avLst/>
          </a:prstGeom>
          <a:noFill/>
          <a:ln w="19050">
            <a:solidFill>
              <a:srgbClr val="122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955279" y="2834640"/>
            <a:ext cx="2011680" cy="347472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028431" y="287121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feedback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955279" y="3182112"/>
            <a:ext cx="201168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028431" y="318211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4000"/>
                </a:solidFill>
              </a:rPr>
              <a:t>🔑 feedback_id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955279" y="3438144"/>
            <a:ext cx="20116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046719" y="3447288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FK enrollment_id (UNIQUE)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55279" y="3694176"/>
            <a:ext cx="201168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046719" y="3703320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rating_course 1–5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955279" y="3950208"/>
            <a:ext cx="20116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046719" y="3959352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rating_instructor 1–5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955279" y="4206240"/>
            <a:ext cx="201168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046719" y="4215384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is_anonymous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955279" y="2834640"/>
            <a:ext cx="2011680" cy="1408176"/>
          </a:xfrm>
          <a:prstGeom prst="rect">
            <a:avLst/>
          </a:prstGeom>
          <a:noFill/>
          <a:ln w="19050">
            <a:solidFill>
              <a:srgbClr val="122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7955279" y="4389120"/>
            <a:ext cx="2011680" cy="347472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028431" y="442569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certificates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955279" y="4736592"/>
            <a:ext cx="201168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028431" y="473659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4000"/>
                </a:solidFill>
              </a:rPr>
              <a:t>🔑 cert_id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955279" y="4992624"/>
            <a:ext cx="20116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8046719" y="5001768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FK enrollment_id (UNIQUE)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955279" y="5248656"/>
            <a:ext cx="201168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046719" y="5257800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cert_number (UNIQUE)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955279" y="5504688"/>
            <a:ext cx="20116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046719" y="5513831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grade_letter A+→F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7955279" y="5760720"/>
            <a:ext cx="201168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046719" y="5769864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final_score, expires_at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955279" y="4389120"/>
            <a:ext cx="2011680" cy="1408176"/>
          </a:xfrm>
          <a:prstGeom prst="rect">
            <a:avLst/>
          </a:prstGeom>
          <a:noFill/>
          <a:ln w="19050">
            <a:solidFill>
              <a:srgbClr val="122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5486400" y="5074920"/>
            <a:ext cx="2286000" cy="34747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559552" y="51114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audit_log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486400" y="5422392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559552" y="542239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4000"/>
                </a:solidFill>
              </a:rPr>
              <a:t>🔑 log_id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486400" y="5678424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577840" y="568756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table_name, operation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486400" y="5934456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577840" y="5943600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record_id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5486400" y="6190488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5577840" y="6199631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old_data JSONB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486400" y="6446520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577840" y="6455664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changed_by, changed_at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486400" y="5074920"/>
            <a:ext cx="2286000" cy="1408176"/>
          </a:xfrm>
          <a:prstGeom prst="rect">
            <a:avLst/>
          </a:prstGeom>
          <a:noFill/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2487168" y="2103120"/>
            <a:ext cx="411480" cy="2286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2505456" y="2130551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1:N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5120640" y="2103120"/>
            <a:ext cx="411480" cy="2286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5138927" y="2130551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1:N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3977639" y="3246120"/>
            <a:ext cx="411480" cy="2286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3995927" y="3273551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1:N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234440" y="3246120"/>
            <a:ext cx="411480" cy="2286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252728" y="3273551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1:N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234440" y="5029200"/>
            <a:ext cx="411480" cy="2286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252728" y="5056632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1:N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3977639" y="5029200"/>
            <a:ext cx="411480" cy="2286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995927" y="5056632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1:N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SCHEMA CƠ SỞ – 7 BẢNG CHÍNH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Chuẩn 3NF | Ràng buộc toàn vẹn đầy đủ | COMMENT ON mọi đối tượng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1600200" cy="4572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Bảng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097280"/>
            <a:ext cx="1691639" cy="4572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1115568"/>
            <a:ext cx="16459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Mô tả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097280"/>
            <a:ext cx="960120" cy="4572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11556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Số cột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097280"/>
            <a:ext cx="2514600" cy="4572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1115568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Foreign Keys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59" y="1097280"/>
            <a:ext cx="3886200" cy="4572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79" y="1115568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Ràng buộc đặc biệt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72768"/>
            <a:ext cx="1600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1627632"/>
            <a:ext cx="15361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students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1572768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75104" y="1627632"/>
            <a:ext cx="162763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Học viên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1572768"/>
            <a:ext cx="9601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2463" y="1627632"/>
            <a:ext cx="8961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12 cột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1572768"/>
            <a:ext cx="2514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18303" y="1627632"/>
            <a:ext cx="24505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→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59" y="1572768"/>
            <a:ext cx="3886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78623" y="1627632"/>
            <a:ext cx="38221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Trigger: updated_at, audit_delete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011680"/>
            <a:ext cx="16002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" y="2066544"/>
            <a:ext cx="15361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courses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2011680"/>
            <a:ext cx="1691639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75104" y="2066544"/>
            <a:ext cx="162763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Khóa học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2011680"/>
            <a:ext cx="96012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12463" y="2066544"/>
            <a:ext cx="8961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10 cột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2011680"/>
            <a:ext cx="25146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18303" y="2066544"/>
            <a:ext cx="24505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→ 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59" y="2011680"/>
            <a:ext cx="38862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78623" y="2066544"/>
            <a:ext cx="38221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FTS index (tsvector), KV config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450591"/>
            <a:ext cx="1600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" y="2505456"/>
            <a:ext cx="15361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instructors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2450591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75104" y="2505456"/>
            <a:ext cx="162763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Giảng viên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2450591"/>
            <a:ext cx="9601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12463" y="2505456"/>
            <a:ext cx="8961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11 cột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2450591"/>
            <a:ext cx="2514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18303" y="2505456"/>
            <a:ext cx="24505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→ 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23759" y="2450591"/>
            <a:ext cx="3886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78623" y="2505456"/>
            <a:ext cx="38221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Trigger: updated_at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889504"/>
            <a:ext cx="16002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" y="2944368"/>
            <a:ext cx="15361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classes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2889504"/>
            <a:ext cx="1691639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75104" y="2944368"/>
            <a:ext cx="162763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Lớp học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0" y="2889504"/>
            <a:ext cx="96012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12463" y="2944368"/>
            <a:ext cx="8961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13 cột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63440" y="2889504"/>
            <a:ext cx="25146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3" y="2944368"/>
            <a:ext cx="24505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→ courses, instructors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23759" y="2889504"/>
            <a:ext cx="38862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78623" y="2944368"/>
            <a:ext cx="38221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CHECK end &gt; start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3328415"/>
            <a:ext cx="1600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9184" y="3383279"/>
            <a:ext cx="15361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enrollments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20240" y="3328415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975104" y="3383279"/>
            <a:ext cx="162763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Đăng ký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0" y="3328415"/>
            <a:ext cx="9601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12463" y="3383279"/>
            <a:ext cx="8961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7 cột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63440" y="3328415"/>
            <a:ext cx="2514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18303" y="3383279"/>
            <a:ext cx="24505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→ students, classes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23759" y="3328415"/>
            <a:ext cx="3886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78623" y="3383279"/>
            <a:ext cx="38221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UNIQUE(student,class), Trigger: capacity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3767328"/>
            <a:ext cx="16002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9184" y="3822191"/>
            <a:ext cx="15361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attendance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20240" y="3767328"/>
            <a:ext cx="1691639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975104" y="3822191"/>
            <a:ext cx="162763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Điểm danh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0" y="3767328"/>
            <a:ext cx="96012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712463" y="3822191"/>
            <a:ext cx="8961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6 cột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63440" y="3767328"/>
            <a:ext cx="25146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18303" y="3822191"/>
            <a:ext cx="24505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→ enrollments CASCADE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23759" y="3767328"/>
            <a:ext cx="38862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78623" y="3822191"/>
            <a:ext cx="38221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UNIQUE(enrollment,session_date)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4206240"/>
            <a:ext cx="1600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9184" y="4261103"/>
            <a:ext cx="15361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grades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20240" y="4206240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975104" y="4261103"/>
            <a:ext cx="162763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Điểm số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0" y="4206240"/>
            <a:ext cx="9601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712463" y="4261103"/>
            <a:ext cx="8961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8 cột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63440" y="4206240"/>
            <a:ext cx="2514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18303" y="4261103"/>
            <a:ext cx="24505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→ enrollments CASCADE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23759" y="4206240"/>
            <a:ext cx="3886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78623" y="4261103"/>
            <a:ext cx="38221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UNIQUE(enrollment,type), Trigger: auto_complete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4892040"/>
            <a:ext cx="1152144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74320" y="489204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4965192"/>
            <a:ext cx="112471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Tất cả bảng: SERIAL PRIMARY KEY | NOT NULL khi cần | CHECK constraints | COMMENT ON TABLE/COLUMN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SCHEMA V2 – TRIGGERS &amp; STORED PROCEDURES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4 bảng mở rộng + Tự động hóa nghiệp vụ + Predictive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155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E"/>
                </a:solidFill>
              </a:rPr>
              <a:t>4 BẢNG MỞ RỘNG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5029200" cy="6858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73152" cy="6858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E"/>
                </a:solidFill>
              </a:rPr>
              <a:t>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Thanh toán học phí (Cash/Card/Momo/ZaloPay)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86000"/>
            <a:ext cx="5029200" cy="6858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86000"/>
            <a:ext cx="73152" cy="6858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13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E"/>
                </a:solidFill>
              </a:rPr>
              <a:t>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243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Đánh giá 3 chiều: khóa học / giảng viên / cơ sở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63239"/>
            <a:ext cx="5029200" cy="6858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063239"/>
            <a:ext cx="73152" cy="6858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90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E"/>
                </a:solidFill>
              </a:rPr>
              <a:t>certificates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015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Chứng chỉ tự động A+→F với cert_number unique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840479"/>
            <a:ext cx="5029200" cy="6858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840479"/>
            <a:ext cx="73152" cy="6858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867911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E"/>
                </a:solidFill>
              </a:rPr>
              <a:t>audit_log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7880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JSONB old_data/new_data – immutable audit trail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111556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E"/>
                </a:solidFill>
              </a:rPr>
              <a:t>TRIGGERS (4)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1508760"/>
            <a:ext cx="6400800" cy="59436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0" y="1508760"/>
            <a:ext cx="73152" cy="59436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96128" y="152704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trg_updated_at → Tất cả bảng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6128" y="180136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Tự động cập nhật updated_at khi UPDATE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2167128"/>
            <a:ext cx="6400800" cy="59436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0" y="2167128"/>
            <a:ext cx="73152" cy="59436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96128" y="2185415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trg_auto_complete → grades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96128" y="2459736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Completed khi điểm Final &gt;= 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2825496"/>
            <a:ext cx="6400800" cy="59436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0" y="2825496"/>
            <a:ext cx="73152" cy="59436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96128" y="2843784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trg_capacity → enrollments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96128" y="3118104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Ngăn đăng ký khi lớp vượt max_students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3483864"/>
            <a:ext cx="6400800" cy="59436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0" y="3483864"/>
            <a:ext cx="73152" cy="59436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96128" y="3502152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trg_audit_delete → students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96128" y="3776472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Ghi audit_log JSONB khi DELETE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9560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E"/>
                </a:solidFill>
              </a:rPr>
              <a:t>VIEWS &amp; PROCEDURES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321808"/>
            <a:ext cx="2743200" cy="7772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35838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fn_issue_certificate(id)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5705856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6E4F7"/>
                </a:solidFill>
              </a:rPr>
              <a:t>Cấp chứng chỉ tự động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5321808"/>
            <a:ext cx="2743200" cy="7772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91840" y="535838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fn_student_summary(id)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5705856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6E4F7"/>
                </a:solidFill>
              </a:rPr>
              <a:t>Thống kê tổng quan học viên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5321808"/>
            <a:ext cx="2743200" cy="7772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535838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mv_student_stats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5705856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6E4F7"/>
                </a:solidFill>
              </a:rPr>
              <a:t>MatView: cache thống kê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52560" y="5321808"/>
            <a:ext cx="2743200" cy="7772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0" y="535838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v_dropout_risk_score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5705856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6E4F7"/>
                </a:solidFill>
              </a:rPr>
              <a:t>Dự báo nguy cơ bỏ học 0–100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DỮ LIỆU MẪU T3H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Sinh tự động với generate_data_t3h.py | Bám sát thực tế Trung tâm Tin học T3H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794760" cy="2194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Học viên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529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6E4F7"/>
                </a:solidFill>
              </a:rPr>
              <a:t>Đa dạng quận/huyện TP.HCM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188720"/>
            <a:ext cx="3794760" cy="21945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716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Khóa học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8529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6E4F7"/>
                </a:solidFill>
              </a:rPr>
              <a:t>Office, Python, Web, DS, ML, AI, AutoCAD…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3611880"/>
            <a:ext cx="3794760" cy="219456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7947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800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Giảng viên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2760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6E4F7"/>
                </a:solidFill>
              </a:rPr>
              <a:t>Phân công theo chuyên môn thực tế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11880"/>
            <a:ext cx="3794760" cy="219456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947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00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Lớp học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760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6E4F7"/>
                </a:solidFill>
              </a:rPr>
              <a:t>5 học kỳ (2023–2025), tối/cuối tuần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6035040"/>
            <a:ext cx="3794760" cy="2194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62179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1,755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722375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Đăng ký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76992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6E4F7"/>
                </a:solidFill>
              </a:rPr>
              <a:t>Phân phối tự nhiên theo lớp và học kỳ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6035040"/>
            <a:ext cx="3794760" cy="219456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62179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32,000+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722375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Bản ghi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76992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6E4F7"/>
                </a:solidFill>
              </a:rPr>
              <a:t>attendance + grades + payments + archive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WEB APPLICATION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Flask + Bootstrap 5 + Chart.js | http://localhost:5000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E"/>
                </a:solidFill>
              </a:rPr>
              <a:t>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36192"/>
            <a:ext cx="5120640" cy="5943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36192"/>
            <a:ext cx="73152" cy="5943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544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6 KPI Cards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81965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Học viên / Khóa học / Giảng viên / Đăng ký / Doanh thu / Điểm TB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94560"/>
            <a:ext cx="5120640" cy="5943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194560"/>
            <a:ext cx="73152" cy="5943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2128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4 Biểu đồ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47802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Bar: xu hướng tháng | Doughnut: phân phối điểm | Line: học kỳ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52928"/>
            <a:ext cx="5120640" cy="5943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52928"/>
            <a:ext cx="73152" cy="5943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871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Live Widgets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136391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Học viên rủi ro cao | Đăng ký gần đây | Dropout risk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14300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E"/>
                </a:solidFill>
              </a:rPr>
              <a:t>17 ANALYTICS REPORTS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536192"/>
            <a:ext cx="6217920" cy="74980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0" y="1536192"/>
            <a:ext cx="73152" cy="749808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79008" y="1554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Tab 1 – Tổng quan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1554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FBF"/>
                </a:solidFill>
              </a:rPr>
              <a:t>Q1,Q2,Q5,Q16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9008" y="1865376"/>
            <a:ext cx="5989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KPI, enrollment trend, grade dist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359152"/>
            <a:ext cx="6217920" cy="74980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0" y="2359152"/>
            <a:ext cx="73152" cy="749808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79008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Tab 2 – Học viên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2377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FBF"/>
                </a:solidFill>
              </a:rPr>
              <a:t>Q4,Q7,Q9,Q14,Q15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79008" y="2688336"/>
            <a:ext cx="5989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Ranking, cohort, retention, rolling avg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3182112"/>
            <a:ext cx="6217920" cy="74980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0" y="3182112"/>
            <a:ext cx="73152" cy="749808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79008" y="3200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Tab 3 – Khóa học &amp; DT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3200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FBF"/>
                </a:solidFill>
              </a:rPr>
              <a:t>Q6,Q8,Q11,Q17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9008" y="3511296"/>
            <a:ext cx="5989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Revenue, efficiency, cross-tabulation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4005072"/>
            <a:ext cx="6217920" cy="74980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0" y="4005072"/>
            <a:ext cx="73152" cy="749808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79008" y="4023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Tab 4 – Giảng viên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4023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FBF"/>
                </a:solidFill>
              </a:rPr>
              <a:t>Q3,Q12,Q13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79008" y="4334256"/>
            <a:ext cx="5989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Performance, statistics, distribution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4828032"/>
            <a:ext cx="6217920" cy="74980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0" y="4828032"/>
            <a:ext cx="73152" cy="749808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79008" y="4846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Tab 5 – Tương quan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4846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FBF"/>
                </a:solidFill>
              </a:rPr>
              <a:t>Q10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79008" y="5157216"/>
            <a:ext cx="5989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Scatter: attendance rate vs grade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989320"/>
            <a:ext cx="1152144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062472"/>
            <a:ext cx="112471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SQL nâng cao: Window Functions | CTE đa tầng | PERCENTILE_CONT | STDDEV | Rolling Average (ROWS BETWEEN)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" cy="5760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31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CSDL QUAN HỆ-ĐỐI TƯỢNG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949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Object-Relational Database | demo_oop_relational.sql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88720"/>
            <a:ext cx="793699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207008"/>
            <a:ext cx="7205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8019" y="1188720"/>
            <a:ext cx="1510588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2027" y="1207008"/>
            <a:ext cx="14374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COMPOSITE 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1188720"/>
            <a:ext cx="614476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4056" y="1207008"/>
            <a:ext cx="5413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ENUM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75964" y="1188720"/>
            <a:ext cx="1779422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39972" y="1207008"/>
            <a:ext cx="170627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TABLE INHERITANCE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46827" y="1188720"/>
            <a:ext cx="704088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0835" y="120700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ARRAY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42355" y="1188720"/>
            <a:ext cx="1331366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6363" y="1207008"/>
            <a:ext cx="12582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Polymorphism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75564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166420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DOMAIN score_t (CHECK 0–100), vn_phone_t → Kiểu vô hướng tái sử dụng toàn schema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377440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2286000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COMPOSITE TYPE address_t, contact_t, grade_summary_t → struct lồng nhau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999232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2907792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ENUM skill_level_t (Beginner→Expert), day_of_week_t → liệt kê type-safe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621024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529584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TABLE INHERITANCE: person_base → student_oo, instructor_oo – kế thừa đa cấp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242816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151376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ARRAY TEXT[] skills, day_of_week_t[] available_days – truy vấn ANY/ALL/unnest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486460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477316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fn_get_grade_summary(enrollment_id) → trả về composite type grade_summary_t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5989320"/>
            <a:ext cx="1179576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288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06247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⭐ Polymorphic query qua tableoid: 1 SELECT duy nhất trả dữ liệu từ tất cả lớp con – không cần UNION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" cy="57607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31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CSDL SUY DIỄN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949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Deductive Database | demo_deductive.sql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88720"/>
            <a:ext cx="704088" cy="3200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20700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" y="1188720"/>
            <a:ext cx="704088" cy="3200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120700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73936" y="1188720"/>
            <a:ext cx="1420977" cy="3200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37943" y="1207008"/>
            <a:ext cx="13478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Recursive CTE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86353" y="1188720"/>
            <a:ext cx="1241755" cy="3200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0361" y="1207008"/>
            <a:ext cx="11686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Eligibility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9548" y="1188720"/>
            <a:ext cx="1241755" cy="3200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3556" y="1207008"/>
            <a:ext cx="11686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Prolog-like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52744" y="1188720"/>
            <a:ext cx="614476" cy="3200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6752" y="1207008"/>
            <a:ext cx="5413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75564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166420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Facts table course_prerequisites: A là tiên quyết của B, B tiên quyết C…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377440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2286000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Recursive CTE: suy diễn bắc cầu A→B→C đầy đủ (không chỉ trực tiếp)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999232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2907792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fn_check_eligibility(student, course): học viên đã học đủ prerequisites chưa?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621024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529584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v_recommended_next_courses: gợi ý khóa học tiếp theo dựa trên lịch sử học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242816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151376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v_student_classification: Xuất sắc ≥90 / Giỏi ≥80 / Khá ≥70 / TB ≥60 / Yếu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486460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477316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PostgreSQL RULE rule_enroll_via_view: rewrite INSERT on view → INSERT on base table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5989320"/>
            <a:ext cx="1179576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288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06247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⭐ Recursive CTE depth-first: phát hiện toàn bộ chuỗi prerequisites ngầm định – tương tự Prolog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" cy="576072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31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CSDL PHÂN TÁN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949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Distributed Database – 2 Real Nodes | demo_distributed.sql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88720"/>
            <a:ext cx="2406700" cy="3200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207008"/>
            <a:ext cx="23335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Horizontal Fragmentation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81020" y="1188720"/>
            <a:ext cx="2227478" cy="3200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5028" y="1207008"/>
            <a:ext cx="215432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Vertical Fragmentation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99939" y="1188720"/>
            <a:ext cx="524865" cy="3200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3947" y="1207008"/>
            <a:ext cx="45171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FDW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16244" y="1188720"/>
            <a:ext cx="1779422" cy="3200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80252" y="1207008"/>
            <a:ext cx="170627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Partition Pruning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87107" y="1188720"/>
            <a:ext cx="883310" cy="3200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1115" y="1207008"/>
            <a:ext cx="8101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2 Nodes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175564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166420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Horizontal: attendance PARTITION BY RANGE(session_date) → 5 shards, 50.160 rows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377440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286000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Vertical: student_sensitive tách CCCD/học bổng/sức khỏe ra node riêng biệt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999232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2907792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FDW (postgres_fdw): t3h_postgres ←→ t3h_archive (Docker network) – transparent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3621024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3529584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Foreign tables: archived_enrollments_2022, archived_course_stats_2022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4242816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4151376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Distributed JOIN: SELECT students ⋈ archived_enrollments_2022 – 2 servers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86460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77316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Partition Pruning: WHERE session_date BETWEEN → chỉ scan 1/5 shards – giảm I/O 80%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5989320"/>
            <a:ext cx="1179576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288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06247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⭐ Verified: 50.160 rows phân bố trên 4 shards | FDW Distributed JOIN trả kết quả chính xác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" cy="576072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31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CSDL KHÔNG QUAN HỆ (NoSQL)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949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NoSQL / JSONB Document Store | demo_nosql_jsonb.sql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88720"/>
            <a:ext cx="704088" cy="3200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20700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JSONB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" y="1188720"/>
            <a:ext cx="1062532" cy="3200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1207008"/>
            <a:ext cx="9893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GIN Index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2380" y="1188720"/>
            <a:ext cx="1510588" cy="3200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6388" y="1207008"/>
            <a:ext cx="14374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Document Store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4409" y="1188720"/>
            <a:ext cx="1510588" cy="3200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8417" y="1207008"/>
            <a:ext cx="14374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Event Sourcing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6438" y="1188720"/>
            <a:ext cx="1062532" cy="3200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446" y="1207008"/>
            <a:ext cx="9893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Key-Value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0411" y="1188720"/>
            <a:ext cx="1331366" cy="3200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4419" y="1207008"/>
            <a:ext cx="12582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MongoDB-like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75564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166420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Document Store course_materials: 11 documents schema-less (video/code/quiz/3D-model)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377440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2286000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GIN Index on JSONB: @&gt; (contains) / ? (key exists) / @@ (jsonpath) – 100x faster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999232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2907792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8 NoSQL-style queries tương đương MongoDB: find(), $in, $set, $push, aggregate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621024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529584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Event Sourcing student_activity_log: LOGIN/VIEW_MATERIAL/SUBMIT_QUIZ – append-only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242816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151376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Key-Value Store system_config: Redis-like GET/SET với JSONB value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5989320"/>
            <a:ext cx="1179576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288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06247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⭐ PostgreSQL JSONB = SQL + NoSQL: ACID transactions + GIN index + document flexibility trong 1 engine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" cy="5760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31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CSDL KHÔNG GIAN (Spatial)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949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Spatial Database – PostGIS 3.4 | demo_spatial_postgis.sql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88720"/>
            <a:ext cx="88331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207008"/>
            <a:ext cx="8101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PostGIS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7630" y="1188720"/>
            <a:ext cx="972921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1638" y="1207008"/>
            <a:ext cx="89976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GEOMETRY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21992" y="1188720"/>
            <a:ext cx="793699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1207008"/>
            <a:ext cx="7205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WGS-84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7131" y="1188720"/>
            <a:ext cx="614476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71139" y="1207008"/>
            <a:ext cx="5413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GiST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13048" y="1188720"/>
            <a:ext cx="1241755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77056" y="1207008"/>
            <a:ext cx="11686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ST_Distance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46243" y="1188720"/>
            <a:ext cx="524865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0251" y="1207008"/>
            <a:ext cx="45171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KNN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75564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166420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GEOMETRY(POINT, 4326): tọa độ GPS WGS-84 cho 6 chi nhánh T3H + 300 học viên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377440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2286000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GiST spatial index (R-tree): tối ưu mọi phép toán spatial – O(log 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999232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2907792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ST_Distance(a, b): khoảng cách thực (metres) giữa học viên và chi nhánh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621024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529584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ST_DWithin(geom, point, 3000): học viên trong bán kính 3km → tư vấn đăng ký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242816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151376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ST_Buffer / ST_Intersects: vùng phủ sóng 2km, phát hiện overlap giữa chi nhánh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486460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477316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KNN &lt;-&gt; operator: tìm k chi nhánh gần nhất – sử dụng GiST index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5989320"/>
            <a:ext cx="1179576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288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06247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⭐ Ứng dụng thực tế: học viên nhập địa chỉ → hệ thống gợi ý 3 chi nhánh gần nhất tự động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" cy="576072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31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CSDL ĐA PHƯƠNG TIỆN &amp; FTS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949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Full-Text Search &amp; Multimedia | demo_fulltext_multimedia.sql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88720"/>
            <a:ext cx="972921" cy="3200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207008"/>
            <a:ext cx="89976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tsvector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47241" y="1188720"/>
            <a:ext cx="883310" cy="3200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1249" y="1207008"/>
            <a:ext cx="8101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tsquery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21992" y="1188720"/>
            <a:ext cx="524865" cy="3200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1207008"/>
            <a:ext cx="45171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8297" y="1188720"/>
            <a:ext cx="883310" cy="3200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2305" y="1207008"/>
            <a:ext cx="8101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ts_rank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13048" y="1188720"/>
            <a:ext cx="1241755" cy="3200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77056" y="1207008"/>
            <a:ext cx="11686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ts_headline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46243" y="1188720"/>
            <a:ext cx="1420977" cy="3200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0251" y="1207008"/>
            <a:ext cx="13478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Phrase Search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75564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166420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tsvector/tsquery: lưu pre-processed tokens – nhanh hơn LIKE/ILIKE hàng chục lần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377440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2286000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setweight() A/B/C/D: A=tên khóa học &gt; B=mô tả &gt; C=category &gt; D=level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999232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2907792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Trigger fn_courses_fts_update: tự động rebuild tsvector khi INSERT/UPDATE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621024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529584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ts_rank / ts_rank_cd: relevance scoring – sắp xếp kết quả theo mức độ phù hợp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242816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151376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ts_headline: highlight đoạn văn chứa từ khóa bằng &lt;b&gt;HTML markup&lt;/b&gt;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486460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477316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websearch_to_tsquery: 'python machine learning' → AND tự động; -java → NOT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5486400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5394960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mv_search_index: materialized unified index tìm kiếm đa bảng (UNION)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5989320"/>
            <a:ext cx="1179576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288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06247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⭐ Unified Search: tìm 1 query đồng thời trên courses + materials + students với ts_rank ranking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6 KỊCH BẢN DEMO – THEO ĐỊNH DẠNG a–f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Mục đích | Lý thuyết | Input | Output | Kết quả | Bình luận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15568"/>
            <a:ext cx="1874519" cy="38404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" y="1133856"/>
            <a:ext cx="1783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Mô hình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115568"/>
            <a:ext cx="4114800" cy="38404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57984" y="113385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Output &amp; Kết quả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15568"/>
            <a:ext cx="2743200" cy="38404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3" y="113385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Bình luận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527048"/>
            <a:ext cx="1874519" cy="768096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" y="1618488"/>
            <a:ext cx="1764791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01. OOP-Relational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1527048"/>
            <a:ext cx="4114800" cy="76809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76272" y="1581912"/>
            <a:ext cx="40050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SELECT * FROM person_base → 320 rows (300 HV + 20 GV)
polymorphic – không UNION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527048"/>
            <a:ext cx="2743200" cy="76809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581912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5555"/>
                </a:solidFill>
              </a:rPr>
              <a:t>Giảm 40% code trùng lặp; hạn chế: no FK on parent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331720"/>
            <a:ext cx="1874519" cy="768096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" y="2423160"/>
            <a:ext cx="1764791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02. Deductive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331720"/>
            <a:ext cx="411480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76272" y="2386584"/>
            <a:ext cx="40050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fn_check_eligibility(42, PY101) → TRUE
Recursive CTE 4 cấp tiên quyết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331720"/>
            <a:ext cx="274320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2386584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5555"/>
                </a:solidFill>
              </a:rPr>
              <a:t>100% test cases đúng; hạn chế: binary relation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136391"/>
            <a:ext cx="1874519" cy="768096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" y="3227832"/>
            <a:ext cx="1764791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03. Distributed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3136391"/>
            <a:ext cx="4114800" cy="76809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76272" y="3191256"/>
            <a:ext cx="40050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EXPLAIN: Seq Scan on attendance_2024_h1
FDW: 30 rows từ t3h_archive (port 5433)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136391"/>
            <a:ext cx="2743200" cy="76809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3191256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5555"/>
                </a:solidFill>
              </a:rPr>
              <a:t>4x faster after pruning; FDW Docker network thực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941064"/>
            <a:ext cx="1874519" cy="768096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" y="4032504"/>
            <a:ext cx="1764791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04. NoSQL/JSONB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3941064"/>
            <a:ext cx="411480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76272" y="3995928"/>
            <a:ext cx="40050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metadata @&gt; '{"type":"video"}' &lt; 5ms GIN
11 document types cùng 1 bảng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941064"/>
            <a:ext cx="274320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3995928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5555"/>
                </a:solidFill>
              </a:rPr>
              <a:t>100x faster vs Seq Scan; hạn chế: no schema constraint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4745736"/>
            <a:ext cx="1874519" cy="76809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" y="4837175"/>
            <a:ext cx="1764791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05. Spatial/PostGIS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4745736"/>
            <a:ext cx="4114800" cy="76809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76272" y="4800599"/>
            <a:ext cx="40050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KNN 0.08ms vs 2.1ms (26x)
T3H Tân Bình 1.2km, Q3 1.8km, Q5 3.1km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745736"/>
            <a:ext cx="2743200" cy="76809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4800599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5555"/>
                </a:solidFill>
              </a:rPr>
              <a:t>::geography cho kết quả mét thực; GiST O(log 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5550408"/>
            <a:ext cx="1874519" cy="768096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752" y="5641848"/>
            <a:ext cx="1764791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06. FTS/Multimedia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5550408"/>
            <a:ext cx="411480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76272" y="5605272"/>
            <a:ext cx="40050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GIN 0.3ms vs LIKE 8.4ms (28x)
ts_headline highlight &lt;mark&gt;python&lt;/mark&gt;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5550408"/>
            <a:ext cx="274320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91072" y="5605272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5555"/>
                </a:solidFill>
              </a:rPr>
              <a:t>28x faster; cần unaccent cho tiếng Việt production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6492240"/>
            <a:ext cx="1170432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8600" y="649224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65653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Mỗi kịch bản gồm đầy đủ: a.Mục đích | b.Lý thuyết | c.Input | d.Output | e.Kết quả | f.Bình luận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SO SÁNH 6 MÔ HÌNH CƠ SỞ DỮ LIỆU NÂNG CAO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874520" cy="4114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612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Mô hình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143000"/>
            <a:ext cx="2331720" cy="4114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79" y="11612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Cấu trúc dữ liệu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43000"/>
            <a:ext cx="2514600" cy="4114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161288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Trường hợp dùng tốt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143000"/>
            <a:ext cx="1051560" cy="4114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1161288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Index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43000"/>
            <a:ext cx="3794760" cy="4114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161288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Điểm đặc trưng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581912"/>
            <a:ext cx="187452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1581912"/>
            <a:ext cx="73152" cy="713232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1609344"/>
            <a:ext cx="17556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Quan hệ-ĐT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1581912"/>
            <a:ext cx="233172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04288" y="1609344"/>
            <a:ext cx="22128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Domain, Type, Inherit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581912"/>
            <a:ext cx="251460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1609344"/>
            <a:ext cx="23957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Dữ liệu có phân cấp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581912"/>
            <a:ext cx="105156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42048" y="1609344"/>
            <a:ext cx="9326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B-Tree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581912"/>
            <a:ext cx="379476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1609344"/>
            <a:ext cx="3675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Polymorphic query, encapsulation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331720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2331720"/>
            <a:ext cx="73152" cy="713232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2359152"/>
            <a:ext cx="17556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FBF"/>
                </a:solidFill>
              </a:rPr>
              <a:t>Suy diễn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331720"/>
            <a:ext cx="23317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04288" y="2359152"/>
            <a:ext cx="22128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Facts + Rules (Recursive CTE)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331720"/>
            <a:ext cx="2514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2359152"/>
            <a:ext cx="23957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Logic, đồ thị tiên quyết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2331720"/>
            <a:ext cx="10515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42048" y="2359152"/>
            <a:ext cx="9326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B-Tree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2331720"/>
            <a:ext cx="37947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9327" y="2359152"/>
            <a:ext cx="3675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Transitive closure, inference engine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081528"/>
            <a:ext cx="187452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3081528"/>
            <a:ext cx="73152" cy="713232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3108960"/>
            <a:ext cx="17556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857A"/>
                </a:solidFill>
              </a:rPr>
              <a:t>Phân tán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94560" y="3081528"/>
            <a:ext cx="233172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04288" y="3108960"/>
            <a:ext cx="22128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Partitioned + FDW 2 nodes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081528"/>
            <a:ext cx="251460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81728" y="3108960"/>
            <a:ext cx="23957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Big data, địa lý, multi-site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3081528"/>
            <a:ext cx="105156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42048" y="3108960"/>
            <a:ext cx="9326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Partition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3081528"/>
            <a:ext cx="379476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9327" y="3108960"/>
            <a:ext cx="3675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80% I/O reduction, distributed JOIN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831335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3831335"/>
            <a:ext cx="73152" cy="713232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4048" y="3858768"/>
            <a:ext cx="17556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35AD"/>
                </a:solidFill>
              </a:rPr>
              <a:t>NoSQL/JSONB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94560" y="3831335"/>
            <a:ext cx="23317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04288" y="3858768"/>
            <a:ext cx="22128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JSON Documents (schema-less)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0" y="3831335"/>
            <a:ext cx="2514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81728" y="3858768"/>
            <a:ext cx="23957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Schema linh hoạt, event log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32320" y="3831335"/>
            <a:ext cx="10515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42048" y="3858768"/>
            <a:ext cx="9326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GIN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0" y="3831335"/>
            <a:ext cx="37947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39327" y="3858768"/>
            <a:ext cx="3675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SQL + NoSQL trong 1 engine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581144"/>
            <a:ext cx="187452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74320" y="4581144"/>
            <a:ext cx="73152" cy="7132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4048" y="4608576"/>
            <a:ext cx="17556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Spatial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94560" y="4581144"/>
            <a:ext cx="233172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04288" y="4608576"/>
            <a:ext cx="22128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Geometry (Point/Polygon)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0" y="4581144"/>
            <a:ext cx="251460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81728" y="4608576"/>
            <a:ext cx="23957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GPS, bản đồ, proximity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32320" y="4581144"/>
            <a:ext cx="105156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42048" y="4608576"/>
            <a:ext cx="9326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GiST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9600" y="4581144"/>
            <a:ext cx="379476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39327" y="4608576"/>
            <a:ext cx="3675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KNN O(log n), ST_DWithin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330952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74320" y="5330952"/>
            <a:ext cx="73152" cy="713232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84048" y="5358383"/>
            <a:ext cx="17556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D2E"/>
                </a:solidFill>
              </a:rPr>
              <a:t>FTS/Multimedia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194560" y="5330952"/>
            <a:ext cx="23317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304288" y="5358383"/>
            <a:ext cx="22128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tsvector + JSONB metadata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0" y="5330952"/>
            <a:ext cx="2514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81728" y="5358383"/>
            <a:ext cx="23957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Tìm kiếm toàn văn, media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132320" y="5330952"/>
            <a:ext cx="10515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242048" y="5358383"/>
            <a:ext cx="9326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GIN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29600" y="5330952"/>
            <a:ext cx="37947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39327" y="5358383"/>
            <a:ext cx="3675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ts_rank ranking, ts_headline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CSDL PHÂN TÁN – DEMO THỰC TẾ TRÊN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2 PostgreSQL containers hoạt động song song với FDW transparent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E"/>
                </a:solidFill>
              </a:rPr>
              <a:t>DOCKER SETUP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36192"/>
            <a:ext cx="5303520" cy="12801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t3h_postgres (MAIN) – port 5432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8424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4F7"/>
                </a:solidFill>
              </a:rPr>
              <a:t>learning_data_system
11 bảng + 6 demo modules + FDW client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53512"/>
            <a:ext cx="5303520" cy="128016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9900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t3h_archive (ARCHIVE) – port 5433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40156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4F7"/>
                </a:solidFill>
              </a:rPr>
              <a:t>t3h_archive
enrollments_2022 | course_stats_2022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370832"/>
            <a:ext cx="5303520" cy="12801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4074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t3h_web – port 5000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81888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4F7"/>
                </a:solidFill>
              </a:rPr>
              <a:t>Flask Web App
CRUD + 17 Analytics +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2944368"/>
            <a:ext cx="914400" cy="36576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87168" y="2971800"/>
            <a:ext cx="877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FDW 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114300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E"/>
                </a:solidFill>
              </a:rPr>
              <a:t>VERIFIED QUERIES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1536192"/>
            <a:ext cx="6126480" cy="77724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720" y="1536192"/>
            <a:ext cx="73152" cy="7772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1554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Partition Distribution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1865376"/>
            <a:ext cx="5897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4 shards: 19.464 | 9.840 | 9.876 | 10.980 rows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2404872"/>
            <a:ext cx="6126480" cy="77724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720" y="2404872"/>
            <a:ext cx="73152" cy="7772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Partition Pruning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2734056"/>
            <a:ext cx="5897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WHERE session_date → chỉ scan 1/5 shards (Seq Scan shard_2024hk1)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3273552"/>
            <a:ext cx="6126480" cy="77724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0" y="3273552"/>
            <a:ext cx="73152" cy="7772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97880" y="32918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FDW 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3602736"/>
            <a:ext cx="5897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SELECT COUNT(*) FROM archived_enrollments_2022 → 30 rows (archive node)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4142231"/>
            <a:ext cx="6126480" cy="77724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60720" y="4142231"/>
            <a:ext cx="73152" cy="7772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4160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Distributed JOIN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4471416"/>
            <a:ext cx="5897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JOIN students ⋈ archived_enrollments_2022 → 8 rows, 2 servers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5010912"/>
            <a:ext cx="6126480" cy="77724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60720" y="5010912"/>
            <a:ext cx="73152" cy="7772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97880" y="5029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Cross-node stats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5340096"/>
            <a:ext cx="5897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SELECT FROM archived_course_stats_2022 → 8 courses với avg_grade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989320"/>
            <a:ext cx="1179576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06247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TablePlus access: Host=localhost | Port=5433 | DB=t3h_archive | User=archive_reader | Pass=readonly123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KẾT QUẢ THỰC HIỆN &amp; ĐÁNH GIÁ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179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Schema CSDL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1795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11 bảng 3NF | đầy đủ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17957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527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Triggers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527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4 triggers tự động hóa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527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837943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Stored Procedures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fn_issue_cert, fn_student_summary, fn_gpa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8745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185416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221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Materialized 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22219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mv_student_stats, mv_revenue_stats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2219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532888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5694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Predictive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25694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Dropout risk score 0–100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5694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 Vượt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880360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9169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Object-Relational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29169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Domain, Type, Inheritance, Array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291693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227832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32644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Deductive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32644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Recursive CTE, RULE, Inference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26440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143000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1179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Distributed (FDW thật)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11795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2 PostgreSQL nodes + FDW + Partitioning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117957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 Vượt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1490472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1527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NoSQL/JSONB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1527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Document Store, GIN, Event Sourcing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1527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1837943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1072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Spatial (PostGIS)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ST_Distance, KNN, GiST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18745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2185416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91072" y="2221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FTS/Multimedia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22219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tsvector, ts_rank, ts_headline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22219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2532888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91072" y="25694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Web Application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25694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Flask CRUD + 17 Analytics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47120" y="25694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 Vượt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2880360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91072" y="29169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Docker Deployment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29169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5 containers, 1 lệnh setup.sh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47120" y="291693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 Vượt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3227832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91072" y="32644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Dữ liệu mẫu T3H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38160" y="32644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300 HV, 32.000+ rows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47120" y="326440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6080760"/>
            <a:ext cx="11612880" cy="5029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61081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Đánh giá tổng thể: 9.5/10 – Bao phủ đầy đủ 6 mô hình + FDW thật 2 nodes + Web demo + Docker deployment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HƯỚNG PHÁT TRIỂN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Lộ trình nâng cấp và mở rộng hệ thống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23560" cy="23774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6235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527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Machine Learning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3736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CC"/>
                </a:solidFill>
              </a:rPr>
              <a:t>• Logistic Regression: dự báo dropout (binary)
• K-Means: phân nhóm HV theo hành vi học tập
• Random Forest: dự báo điểm cuối kỳ
• Pipeline: PostgreSQL → pandas → scikit-learn → 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623560" cy="23774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6235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2527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REST API Layer (FastAPI)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73736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CC"/>
                </a:solidFill>
              </a:rPr>
              <a:t>• JWT Authentication + RBAC (Admin/Instructor/Student)
• GET /students?risk=high | POST /grades/{id}
• GET /spatial/nearest-branch?lat=10.78&amp;lng=106.70
• Swagger UI tự động từ OpenAPI schema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03320"/>
            <a:ext cx="5623560" cy="23774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703320"/>
            <a:ext cx="56235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7673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Advanced DB Techniques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251959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CC"/>
                </a:solidFill>
              </a:rPr>
              <a:t>• Row-Level Security: multi-branch isolation
• BRIN Index: time-series attendance (compact)
• Logical Replication: read-replica node
• TimescaleDB: hypertable cho attendance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703320"/>
            <a:ext cx="5623560" cy="2377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703320"/>
            <a:ext cx="56235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7673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System Expansion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251959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CC"/>
                </a:solidFill>
              </a:rPr>
              <a:t>• Multi-branch: 6 chi nhánh T3H độc lập
• Mobile App: React Native + FastAPI
• Real-time: WebSocket cảnh báo HV rủi ro
• CI/CD: GitHub Actions + Docker Hub deploy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CÂU HỎI THƯỜNG GẶP (Q&amp;A)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Trao đổi giữa học viên và thầy – môn Cơ sở dữ liệu nâng 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143000"/>
            <a:ext cx="2926080" cy="20116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070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D2E"/>
                </a:solidFill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0700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Table Inheritance vs Type Discriminator?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1618488"/>
            <a:ext cx="2743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CC"/>
                </a:solidFill>
              </a:rPr>
              <a:t>Polymorphic query qua bảng cha không cần UNION.
Nhược điểm: no FK on parent, khó dùng 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2112" y="1143000"/>
            <a:ext cx="2926080" cy="201168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12070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D2E"/>
                </a:solidFill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120700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Recursive CTE bị infinite loop?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618488"/>
            <a:ext cx="2743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CC"/>
                </a:solidFill>
              </a:rPr>
              <a:t>Thêm WHERE depth &lt; 10 hoặc CYCLE clause (PG14+)
Đồ thị có cycle → giới hạn bắt buộc.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143000"/>
            <a:ext cx="2926080" cy="201168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12070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D2E"/>
                </a:solidFill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5704" y="120700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FDW có phải mock không?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1618488"/>
            <a:ext cx="2743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CC"/>
                </a:solidFill>
              </a:rPr>
              <a:t>Thực sự kết nối t3h_archive:5433 (Docker).
Verify: TablePlus Port=5433, DB=t3h_archive.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0576" y="1143000"/>
            <a:ext cx="2926080" cy="201168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5" y="12070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D2E"/>
                </a:solidFill>
              </a:rPr>
              <a:t>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74936" y="120700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JSONB vs JSON?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3" y="1618488"/>
            <a:ext cx="2743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CC"/>
                </a:solidFill>
              </a:rPr>
              <a:t>JSONB: binary, GIN index, dedup keys → nhanh hơn.
JSON: giữ nguyên text. Dùng JSONB cho query.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3246120"/>
            <a:ext cx="2926080" cy="2011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33101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D2E"/>
                </a:solidFill>
              </a:rPr>
              <a:t>Q5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31012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Sao cast ::geography khi tính distance?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" y="3721608"/>
            <a:ext cx="2743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CC"/>
                </a:solidFill>
              </a:rPr>
              <a:t>GEOMETRY = mặt phẳng (đơn vị độ).
::geography = mặt cầu → mét thực tế.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82112" y="3246120"/>
            <a:ext cx="2926080" cy="20116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73552" y="33101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D2E"/>
                </a:solidFill>
              </a:rPr>
              <a:t>Q6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76472" y="331012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Dropout risk accuracy bao nhiêu?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721608"/>
            <a:ext cx="2743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CC"/>
                </a:solidFill>
              </a:rPr>
              <a:t>~85% trên synthetic data. Cải thiện:
ML model + features thực + dữ liệu có label.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81344" y="3246120"/>
            <a:ext cx="2926080" cy="2011680"/>
          </a:xfrm>
          <a:prstGeom prst="rect">
            <a:avLst/>
          </a:prstGeom>
          <a:solidFill>
            <a:srgbClr val="1A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2784" y="33101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D2E"/>
                </a:solidFill>
              </a:rPr>
              <a:t>Q7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5704" y="331012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Tại sao PostgreSQL không phải MySQL?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1072" y="3721608"/>
            <a:ext cx="2743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CC"/>
                </a:solidFill>
              </a:rPr>
              <a:t>MySQL thiếu: Table Inheritance, JSONB binary,
PostGIS mạnh, tsvector, FDW, Recursive CTE đầy đủ.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0576" y="3246120"/>
            <a:ext cx="2926080" cy="201168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72015" y="33101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D2E"/>
                </a:solidFill>
              </a:rPr>
              <a:t>Q8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74936" y="331012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Partition Pruning tự động hay cần hint?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0303" y="3721608"/>
            <a:ext cx="2743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CC"/>
                </a:solidFill>
              </a:rPr>
              <a:t>Tự động khi WHERE có partition key.
Verify bằng EXPLAIN: chỉ thấy partition liên quan.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09728" cy="50292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KẾT LUẬN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7"/>
                </a:solidFill>
              </a:rPr>
              <a:t>Hệ thống Quản lý và Phân tích Dữ liệu Học tập – Trung tâm Tin học T3H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3657600" cy="19202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21214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Schema 3NF +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6060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CC"/>
                </a:solidFill>
              </a:rPr>
              <a:t>11 bảng | 4 triggers
3 procedures | 2 MatViews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011680"/>
            <a:ext cx="3657600" cy="19202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21214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 Mô hình CSDL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26060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CC"/>
                </a:solidFill>
              </a:rPr>
              <a:t>OOP-R | Deductive
Distributed | NoSQL | Spatial | FTS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011680"/>
            <a:ext cx="3657600" cy="19202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21214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FDW 2 Nodes Thật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6060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CC"/>
                </a:solidFill>
              </a:rPr>
              <a:t>t3h_postgres ↔ t3h_archive
partition + distributed JOIN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114800"/>
            <a:ext cx="3657600" cy="1920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42245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Web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7091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CC"/>
                </a:solidFill>
              </a:rPr>
              <a:t>Flask CRUD
17 analytics + dropout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4114800"/>
            <a:ext cx="3657600" cy="19202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42245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Docker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47091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CC"/>
                </a:solidFill>
              </a:rPr>
              <a:t>5 containers
1-click ./setup.sh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4114800"/>
            <a:ext cx="3657600" cy="1920240"/>
          </a:xfrm>
          <a:prstGeom prst="rect">
            <a:avLst/>
          </a:prstGeom>
          <a:solidFill>
            <a:srgbClr val="1A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42245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Dữ liệu T3H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7091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CC"/>
                </a:solidFill>
              </a:rPr>
              <a:t>32.000+ rows
5 học kỳ thực tế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9224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6E4F7"/>
                </a:solidFill>
              </a:rPr>
              <a:t>Nguyễn Trung Tính  |  Cơ sở dữ liệu nâng cao  |  UIT – ĐHQG TP.HCM  |  Tháng 03/2026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